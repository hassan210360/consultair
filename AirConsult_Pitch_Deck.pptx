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9A84C"/>
          </a:solidFill>
          <a:ln w="12700">
            <a:solidFill>
              <a:srgbClr val="C9A84C"/>
            </a:solidFill>
            <a:prstDash val="solid"/>
          </a:ln>
        </p:spPr>
      </p:sp>
      <p:sp>
        <p:nvSpPr>
          <p:cNvPr id="3" name="Shape 1"/>
          <p:cNvSpPr/>
          <p:nvPr/>
        </p:nvSpPr>
        <p:spPr>
          <a:xfrm>
            <a:off x="0" y="109728"/>
            <a:ext cx="3474720" cy="5029200"/>
          </a:xfrm>
          <a:prstGeom prst="rect">
            <a:avLst/>
          </a:prstGeom>
          <a:solidFill>
            <a:srgbClr val="0D2137"/>
          </a:solidFill>
          <a:ln w="12700">
            <a:solidFill>
              <a:srgbClr val="0D2137"/>
            </a:solidFill>
            <a:prstDash val="solid"/>
          </a:ln>
        </p:spPr>
      </p:sp>
      <p:sp>
        <p:nvSpPr>
          <p:cNvPr id="4" name="Shape 2"/>
          <p:cNvSpPr/>
          <p:nvPr/>
        </p:nvSpPr>
        <p:spPr>
          <a:xfrm>
            <a:off x="3474720" y="109728"/>
            <a:ext cx="54864" cy="5029200"/>
          </a:xfrm>
          <a:prstGeom prst="rect">
            <a:avLst/>
          </a:prstGeom>
          <a:solidFill>
            <a:srgbClr val="C9A84C"/>
          </a:solidFill>
          <a:ln w="12700">
            <a:solidFill>
              <a:srgbClr val="C9A84C"/>
            </a:solidFill>
            <a:prstDash val="solid"/>
          </a:ln>
        </p:spPr>
      </p:sp>
      <p:sp>
        <p:nvSpPr>
          <p:cNvPr id="5" name="Text 3"/>
          <p:cNvSpPr/>
          <p:nvPr/>
        </p:nvSpPr>
        <p:spPr>
          <a:xfrm>
            <a:off x="3749040" y="822960"/>
            <a:ext cx="5029200" cy="82296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AIR</a:t>
            </a:r>
            <a:endParaRPr lang="en-US" sz="5400" dirty="0"/>
          </a:p>
        </p:txBody>
      </p:sp>
      <p:sp>
        <p:nvSpPr>
          <p:cNvPr id="6" name="Text 4"/>
          <p:cNvSpPr/>
          <p:nvPr/>
        </p:nvSpPr>
        <p:spPr>
          <a:xfrm>
            <a:off x="3749040" y="1508760"/>
            <a:ext cx="5303520" cy="822960"/>
          </a:xfrm>
          <a:prstGeom prst="rect">
            <a:avLst/>
          </a:prstGeom>
          <a:noFill/>
          <a:ln/>
        </p:spPr>
        <p:txBody>
          <a:bodyPr wrap="square" lIns="0" tIns="0" rIns="0" bIns="0" rtlCol="0" anchor="ctr"/>
          <a:lstStyle/>
          <a:p>
            <a:pPr indent="0" marL="0">
              <a:buNone/>
            </a:pPr>
            <a:r>
              <a:rPr lang="en-US" sz="5400" b="1" dirty="0">
                <a:solidFill>
                  <a:srgbClr val="C9A84C"/>
                </a:solidFill>
                <a:latin typeface="Calibri" pitchFamily="34" charset="0"/>
                <a:ea typeface="Calibri" pitchFamily="34" charset="-122"/>
                <a:cs typeface="Calibri" pitchFamily="34" charset="-120"/>
              </a:rPr>
              <a:t>CONSULT</a:t>
            </a:r>
            <a:endParaRPr lang="en-US" sz="5400" dirty="0"/>
          </a:p>
        </p:txBody>
      </p:sp>
      <p:sp>
        <p:nvSpPr>
          <p:cNvPr id="7" name="Shape 5"/>
          <p:cNvSpPr/>
          <p:nvPr/>
        </p:nvSpPr>
        <p:spPr>
          <a:xfrm>
            <a:off x="3749040" y="2468880"/>
            <a:ext cx="5029200" cy="0"/>
          </a:xfrm>
          <a:prstGeom prst="line">
            <a:avLst/>
          </a:prstGeom>
          <a:noFill/>
          <a:ln w="19050">
            <a:solidFill>
              <a:srgbClr val="C9A84C"/>
            </a:solidFill>
            <a:prstDash val="solid"/>
          </a:ln>
        </p:spPr>
      </p:sp>
      <p:sp>
        <p:nvSpPr>
          <p:cNvPr id="8" name="Text 6"/>
          <p:cNvSpPr/>
          <p:nvPr/>
        </p:nvSpPr>
        <p:spPr>
          <a:xfrm>
            <a:off x="3749040" y="2606040"/>
            <a:ext cx="5212080" cy="365760"/>
          </a:xfrm>
          <a:prstGeom prst="rect">
            <a:avLst/>
          </a:prstGeom>
          <a:noFill/>
          <a:ln/>
        </p:spPr>
        <p:txBody>
          <a:bodyPr wrap="square" lIns="0" tIns="0" rIns="0" bIns="0" rtlCol="0" anchor="ctr"/>
          <a:lstStyle/>
          <a:p>
            <a:pPr indent="0" marL="0">
              <a:buNone/>
            </a:pPr>
            <a:r>
              <a:rPr lang="en-US" sz="1300" dirty="0">
                <a:solidFill>
                  <a:srgbClr val="2E8BC0"/>
                </a:solidFill>
                <a:latin typeface="Calibri" pitchFamily="34" charset="0"/>
                <a:ea typeface="Calibri" pitchFamily="34" charset="-122"/>
                <a:cs typeface="Calibri" pitchFamily="34" charset="-120"/>
              </a:rPr>
              <a:t>Aviation Consulting &amp; Airline Management</a:t>
            </a:r>
            <a:endParaRPr lang="en-US" sz="1300" dirty="0"/>
          </a:p>
        </p:txBody>
      </p:sp>
      <p:sp>
        <p:nvSpPr>
          <p:cNvPr id="9" name="Text 7"/>
          <p:cNvSpPr/>
          <p:nvPr/>
        </p:nvSpPr>
        <p:spPr>
          <a:xfrm>
            <a:off x="3749040" y="2971800"/>
            <a:ext cx="5212080" cy="320040"/>
          </a:xfrm>
          <a:prstGeom prst="rect">
            <a:avLst/>
          </a:prstGeom>
          <a:noFill/>
          <a:ln/>
        </p:spPr>
        <p:txBody>
          <a:bodyPr wrap="square" lIns="0" tIns="0" rIns="0" bIns="0" rtlCol="0" anchor="ctr"/>
          <a:lstStyle/>
          <a:p>
            <a:pPr indent="0" marL="0">
              <a:buNone/>
            </a:pPr>
            <a:r>
              <a:rPr lang="en-US" sz="1100" dirty="0">
                <a:solidFill>
                  <a:srgbClr val="8FA3B4"/>
                </a:solidFill>
                <a:latin typeface="Calibri" pitchFamily="34" charset="0"/>
                <a:ea typeface="Calibri" pitchFamily="34" charset="-122"/>
                <a:cs typeface="Calibri" pitchFamily="34" charset="-120"/>
              </a:rPr>
              <a:t>Strategic Business Plan — Phase 1</a:t>
            </a:r>
            <a:endParaRPr lang="en-US" sz="1100" dirty="0"/>
          </a:p>
        </p:txBody>
      </p:sp>
      <p:sp>
        <p:nvSpPr>
          <p:cNvPr id="10" name="Text 8"/>
          <p:cNvSpPr/>
          <p:nvPr/>
        </p:nvSpPr>
        <p:spPr>
          <a:xfrm>
            <a:off x="274320" y="1463040"/>
            <a:ext cx="2926080" cy="201168"/>
          </a:xfrm>
          <a:prstGeom prst="rect">
            <a:avLst/>
          </a:prstGeom>
          <a:noFill/>
          <a:ln/>
        </p:spPr>
        <p:txBody>
          <a:bodyPr wrap="square" lIns="0" tIns="0" rIns="0" bIns="0" rtlCol="0" anchor="ctr"/>
          <a:lstStyle/>
          <a:p>
            <a:pPr indent="0" marL="0">
              <a:buNone/>
            </a:pPr>
            <a:r>
              <a:rPr lang="en-US" sz="700" b="1" dirty="0">
                <a:solidFill>
                  <a:srgbClr val="C9A84C"/>
                </a:solidFill>
                <a:latin typeface="Calibri" pitchFamily="34" charset="0"/>
                <a:ea typeface="Calibri" pitchFamily="34" charset="-122"/>
                <a:cs typeface="Calibri" pitchFamily="34" charset="-120"/>
              </a:rPr>
              <a:t>HQ</a:t>
            </a:r>
            <a:endParaRPr lang="en-US" sz="700" dirty="0"/>
          </a:p>
        </p:txBody>
      </p:sp>
      <p:sp>
        <p:nvSpPr>
          <p:cNvPr id="11" name="Text 9"/>
          <p:cNvSpPr/>
          <p:nvPr/>
        </p:nvSpPr>
        <p:spPr>
          <a:xfrm>
            <a:off x="274320" y="1664208"/>
            <a:ext cx="292608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Cairo, Egypt</a:t>
            </a:r>
            <a:endParaRPr lang="en-US" sz="1000" dirty="0"/>
          </a:p>
        </p:txBody>
      </p:sp>
      <p:sp>
        <p:nvSpPr>
          <p:cNvPr id="12" name="Shape 10"/>
          <p:cNvSpPr/>
          <p:nvPr/>
        </p:nvSpPr>
        <p:spPr>
          <a:xfrm>
            <a:off x="274320" y="1901952"/>
            <a:ext cx="2834640" cy="0"/>
          </a:xfrm>
          <a:prstGeom prst="line">
            <a:avLst/>
          </a:prstGeom>
          <a:noFill/>
          <a:ln w="6350">
            <a:solidFill>
              <a:srgbClr val="1A3A5C"/>
            </a:solidFill>
            <a:prstDash val="solid"/>
          </a:ln>
        </p:spPr>
      </p:sp>
      <p:sp>
        <p:nvSpPr>
          <p:cNvPr id="13" name="Text 11"/>
          <p:cNvSpPr/>
          <p:nvPr/>
        </p:nvSpPr>
        <p:spPr>
          <a:xfrm>
            <a:off x="274320" y="2148840"/>
            <a:ext cx="2926080" cy="201168"/>
          </a:xfrm>
          <a:prstGeom prst="rect">
            <a:avLst/>
          </a:prstGeom>
          <a:noFill/>
          <a:ln/>
        </p:spPr>
        <p:txBody>
          <a:bodyPr wrap="square" lIns="0" tIns="0" rIns="0" bIns="0" rtlCol="0" anchor="ctr"/>
          <a:lstStyle/>
          <a:p>
            <a:pPr indent="0" marL="0">
              <a:buNone/>
            </a:pPr>
            <a:r>
              <a:rPr lang="en-US" sz="700" b="1" dirty="0">
                <a:solidFill>
                  <a:srgbClr val="C9A84C"/>
                </a:solidFill>
                <a:latin typeface="Calibri" pitchFamily="34" charset="0"/>
                <a:ea typeface="Calibri" pitchFamily="34" charset="-122"/>
                <a:cs typeface="Calibri" pitchFamily="34" charset="-120"/>
              </a:rPr>
              <a:t>FOCUS</a:t>
            </a:r>
            <a:endParaRPr lang="en-US" sz="700" dirty="0"/>
          </a:p>
        </p:txBody>
      </p:sp>
      <p:sp>
        <p:nvSpPr>
          <p:cNvPr id="14" name="Text 12"/>
          <p:cNvSpPr/>
          <p:nvPr/>
        </p:nvSpPr>
        <p:spPr>
          <a:xfrm>
            <a:off x="274320" y="2350008"/>
            <a:ext cx="292608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MENA &amp; North Africa</a:t>
            </a:r>
            <a:endParaRPr lang="en-US" sz="1000" dirty="0"/>
          </a:p>
        </p:txBody>
      </p:sp>
      <p:sp>
        <p:nvSpPr>
          <p:cNvPr id="15" name="Shape 13"/>
          <p:cNvSpPr/>
          <p:nvPr/>
        </p:nvSpPr>
        <p:spPr>
          <a:xfrm>
            <a:off x="274320" y="2587752"/>
            <a:ext cx="2834640" cy="0"/>
          </a:xfrm>
          <a:prstGeom prst="line">
            <a:avLst/>
          </a:prstGeom>
          <a:noFill/>
          <a:ln w="6350">
            <a:solidFill>
              <a:srgbClr val="1A3A5C"/>
            </a:solidFill>
            <a:prstDash val="solid"/>
          </a:ln>
        </p:spPr>
      </p:sp>
      <p:sp>
        <p:nvSpPr>
          <p:cNvPr id="16" name="Text 14"/>
          <p:cNvSpPr/>
          <p:nvPr/>
        </p:nvSpPr>
        <p:spPr>
          <a:xfrm>
            <a:off x="274320" y="2834640"/>
            <a:ext cx="2926080" cy="201168"/>
          </a:xfrm>
          <a:prstGeom prst="rect">
            <a:avLst/>
          </a:prstGeom>
          <a:noFill/>
          <a:ln/>
        </p:spPr>
        <p:txBody>
          <a:bodyPr wrap="square" lIns="0" tIns="0" rIns="0" bIns="0" rtlCol="0" anchor="ctr"/>
          <a:lstStyle/>
          <a:p>
            <a:pPr indent="0" marL="0">
              <a:buNone/>
            </a:pPr>
            <a:r>
              <a:rPr lang="en-US" sz="700" b="1" dirty="0">
                <a:solidFill>
                  <a:srgbClr val="C9A84C"/>
                </a:solidFill>
                <a:latin typeface="Calibri" pitchFamily="34" charset="0"/>
                <a:ea typeface="Calibri" pitchFamily="34" charset="-122"/>
                <a:cs typeface="Calibri" pitchFamily="34" charset="-120"/>
              </a:rPr>
              <a:t>PHASE</a:t>
            </a:r>
            <a:endParaRPr lang="en-US" sz="700" dirty="0"/>
          </a:p>
        </p:txBody>
      </p:sp>
      <p:sp>
        <p:nvSpPr>
          <p:cNvPr id="17" name="Text 15"/>
          <p:cNvSpPr/>
          <p:nvPr/>
        </p:nvSpPr>
        <p:spPr>
          <a:xfrm>
            <a:off x="274320" y="3035808"/>
            <a:ext cx="292608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60-Day Launch Plan</a:t>
            </a:r>
            <a:endParaRPr lang="en-US" sz="1000" dirty="0"/>
          </a:p>
        </p:txBody>
      </p:sp>
      <p:sp>
        <p:nvSpPr>
          <p:cNvPr id="18" name="Shape 16"/>
          <p:cNvSpPr/>
          <p:nvPr/>
        </p:nvSpPr>
        <p:spPr>
          <a:xfrm>
            <a:off x="274320" y="3273552"/>
            <a:ext cx="2834640" cy="0"/>
          </a:xfrm>
          <a:prstGeom prst="line">
            <a:avLst/>
          </a:prstGeom>
          <a:noFill/>
          <a:ln w="6350">
            <a:solidFill>
              <a:srgbClr val="1A3A5C"/>
            </a:solidFill>
            <a:prstDash val="solid"/>
          </a:ln>
        </p:spPr>
      </p:sp>
      <p:sp>
        <p:nvSpPr>
          <p:cNvPr id="19" name="Text 17"/>
          <p:cNvSpPr/>
          <p:nvPr/>
        </p:nvSpPr>
        <p:spPr>
          <a:xfrm>
            <a:off x="3749040" y="4297680"/>
            <a:ext cx="5212080" cy="457200"/>
          </a:xfrm>
          <a:prstGeom prst="rect">
            <a:avLst/>
          </a:prstGeom>
          <a:noFill/>
          <a:ln/>
        </p:spPr>
        <p:txBody>
          <a:bodyPr wrap="square" lIns="0" tIns="0" rIns="0" bIns="0" rtlCol="0" anchor="ctr"/>
          <a:lstStyle/>
          <a:p>
            <a:pPr indent="0" marL="0">
              <a:buNone/>
            </a:pPr>
            <a:r>
              <a:rPr lang="en-US" sz="900" i="1" dirty="0">
                <a:solidFill>
                  <a:srgbClr val="8FA3B4"/>
                </a:solidFill>
                <a:latin typeface="Calibri" pitchFamily="34" charset="0"/>
                <a:ea typeface="Calibri" pitchFamily="34" charset="-122"/>
                <a:cs typeface="Calibri" pitchFamily="34" charset="-120"/>
              </a:rPr>
              <a:t>"Fast, Practical, Execution-Focused Aviation Specialists."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64592" cy="5148072"/>
          </a:xfrm>
          <a:prstGeom prst="rect">
            <a:avLst/>
          </a:prstGeom>
          <a:solidFill>
            <a:srgbClr val="0A1628"/>
          </a:solidFill>
          <a:ln w="12700">
            <a:solidFill>
              <a:srgbClr val="0A1628"/>
            </a:solidFill>
            <a:prstDash val="solid"/>
          </a:ln>
        </p:spPr>
      </p:sp>
      <p:sp>
        <p:nvSpPr>
          <p:cNvPr id="3" name="Shape 1"/>
          <p:cNvSpPr/>
          <p:nvPr/>
        </p:nvSpPr>
        <p:spPr>
          <a:xfrm>
            <a:off x="164592" y="0"/>
            <a:ext cx="45720" cy="5148072"/>
          </a:xfrm>
          <a:prstGeom prst="rect">
            <a:avLst/>
          </a:prstGeom>
          <a:solidFill>
            <a:srgbClr val="C9A84C"/>
          </a:solidFill>
          <a:ln w="12700">
            <a:solidFill>
              <a:srgbClr val="C9A84C"/>
            </a:solidFill>
            <a:prstDash val="solid"/>
          </a:ln>
        </p:spPr>
      </p:sp>
      <p:sp>
        <p:nvSpPr>
          <p:cNvPr id="4" name="Text 2"/>
          <p:cNvSpPr/>
          <p:nvPr/>
        </p:nvSpPr>
        <p:spPr>
          <a:xfrm>
            <a:off x="365760" y="320040"/>
            <a:ext cx="8503920" cy="274320"/>
          </a:xfrm>
          <a:prstGeom prst="rect">
            <a:avLst/>
          </a:prstGeom>
          <a:noFill/>
          <a:ln/>
        </p:spPr>
        <p:txBody>
          <a:bodyPr wrap="square" lIns="0" tIns="0" rIns="0" bIns="0" rtlCol="0" anchor="ctr"/>
          <a:lstStyle/>
          <a:p>
            <a:pPr indent="0" marL="0">
              <a:buNone/>
            </a:pPr>
            <a:r>
              <a:rPr lang="en-US" sz="800" b="1" spc="400" kern="0" dirty="0">
                <a:solidFill>
                  <a:srgbClr val="C9A84C"/>
                </a:solidFill>
                <a:latin typeface="Calibri" pitchFamily="34" charset="0"/>
                <a:ea typeface="Calibri" pitchFamily="34" charset="-122"/>
                <a:cs typeface="Calibri" pitchFamily="34" charset="-120"/>
              </a:rPr>
              <a:t>WHO WE ARE</a:t>
            </a:r>
            <a:endParaRPr lang="en-US" sz="800" dirty="0"/>
          </a:p>
        </p:txBody>
      </p:sp>
      <p:sp>
        <p:nvSpPr>
          <p:cNvPr id="5" name="Text 3"/>
          <p:cNvSpPr/>
          <p:nvPr/>
        </p:nvSpPr>
        <p:spPr>
          <a:xfrm>
            <a:off x="365760" y="548640"/>
            <a:ext cx="8503920" cy="548640"/>
          </a:xfrm>
          <a:prstGeom prst="rect">
            <a:avLst/>
          </a:prstGeom>
          <a:noFill/>
          <a:ln/>
        </p:spPr>
        <p:txBody>
          <a:bodyPr wrap="square" lIns="0" tIns="0" rIns="0" bIns="0"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Company Overview</a:t>
            </a:r>
            <a:endParaRPr lang="en-US" sz="2800" dirty="0"/>
          </a:p>
        </p:txBody>
      </p:sp>
      <p:sp>
        <p:nvSpPr>
          <p:cNvPr id="6" name="Shape 4"/>
          <p:cNvSpPr/>
          <p:nvPr/>
        </p:nvSpPr>
        <p:spPr>
          <a:xfrm>
            <a:off x="365760" y="1143000"/>
            <a:ext cx="8412480" cy="0"/>
          </a:xfrm>
          <a:prstGeom prst="line">
            <a:avLst/>
          </a:prstGeom>
          <a:noFill/>
          <a:ln w="19050">
            <a:solidFill>
              <a:srgbClr val="C9A84C"/>
            </a:solidFill>
            <a:prstDash val="solid"/>
          </a:ln>
        </p:spPr>
      </p:sp>
      <p:sp>
        <p:nvSpPr>
          <p:cNvPr id="7" name="Text 5"/>
          <p:cNvSpPr/>
          <p:nvPr/>
        </p:nvSpPr>
        <p:spPr>
          <a:xfrm>
            <a:off x="365760" y="1280160"/>
            <a:ext cx="8412480" cy="822960"/>
          </a:xfrm>
          <a:prstGeom prst="rect">
            <a:avLst/>
          </a:prstGeom>
          <a:noFill/>
          <a:ln/>
        </p:spPr>
        <p:txBody>
          <a:bodyPr wrap="square" lIns="0" tIns="0" rIns="0" bIns="0" rtlCol="0" anchor="ctr"/>
          <a:lstStyle/>
          <a:p>
            <a:pPr indent="0" marL="0">
              <a:buNone/>
            </a:pPr>
            <a:r>
              <a:rPr lang="en-US" sz="1050" dirty="0">
                <a:solidFill>
                  <a:srgbClr val="2D3748"/>
                </a:solidFill>
                <a:latin typeface="Calibri" pitchFamily="34" charset="0"/>
                <a:ea typeface="Calibri" pitchFamily="34" charset="-122"/>
                <a:cs typeface="Calibri" pitchFamily="34" charset="-120"/>
              </a:rPr>
              <a:t>Air Consult is a specialized aviation consultancy and operational management company focused on supporting aviation projects across the Middle East, North Africa, and Europe. We combine operational expertise, regulatory knowledge, airline management capability, and technical aviation support with deep regional relationships.</a:t>
            </a:r>
            <a:endParaRPr lang="en-US" sz="1050" dirty="0"/>
          </a:p>
        </p:txBody>
      </p:sp>
      <p:sp>
        <p:nvSpPr>
          <p:cNvPr id="8" name="Shape 6"/>
          <p:cNvSpPr/>
          <p:nvPr/>
        </p:nvSpPr>
        <p:spPr>
          <a:xfrm>
            <a:off x="365760" y="2331720"/>
            <a:ext cx="1920240" cy="1005840"/>
          </a:xfrm>
          <a:prstGeom prst="rect">
            <a:avLst/>
          </a:prstGeom>
          <a:solidFill>
            <a:srgbClr val="1A6BAD"/>
          </a:solidFill>
          <a:ln w="12700">
            <a:solidFill>
              <a:srgbClr val="1A6BAD"/>
            </a:solidFill>
            <a:prstDash val="solid"/>
          </a:ln>
          <a:effectLst>
            <a:outerShdw sx="100000" sy="100000" kx="0" ky="0" algn="bl" rotWithShape="0" blurRad="127000" dist="38100" dir="8100000">
              <a:srgbClr val="000000">
                <a:alpha val="15000"/>
              </a:srgbClr>
            </a:outerShdw>
          </a:effectLst>
        </p:spPr>
      </p:sp>
      <p:sp>
        <p:nvSpPr>
          <p:cNvPr id="9" name="Text 7"/>
          <p:cNvSpPr/>
          <p:nvPr/>
        </p:nvSpPr>
        <p:spPr>
          <a:xfrm>
            <a:off x="365760" y="2423160"/>
            <a:ext cx="192024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Expertise</a:t>
            </a:r>
            <a:endParaRPr lang="en-US" sz="1100" dirty="0"/>
          </a:p>
        </p:txBody>
      </p:sp>
      <p:sp>
        <p:nvSpPr>
          <p:cNvPr id="10" name="Shape 8"/>
          <p:cNvSpPr/>
          <p:nvPr/>
        </p:nvSpPr>
        <p:spPr>
          <a:xfrm>
            <a:off x="2514600" y="2331720"/>
            <a:ext cx="1920240" cy="1005840"/>
          </a:xfrm>
          <a:prstGeom prst="rect">
            <a:avLst/>
          </a:prstGeom>
          <a:solidFill>
            <a:srgbClr val="0A1628"/>
          </a:solidFill>
          <a:ln w="12700">
            <a:solidFill>
              <a:srgbClr val="0A1628"/>
            </a:solidFill>
            <a:prstDash val="solid"/>
          </a:ln>
          <a:effectLst>
            <a:outerShdw sx="100000" sy="100000" kx="0" ky="0" algn="bl" rotWithShape="0" blurRad="127000" dist="38100" dir="8100000">
              <a:srgbClr val="000000">
                <a:alpha val="15000"/>
              </a:srgbClr>
            </a:outerShdw>
          </a:effectLst>
        </p:spPr>
      </p:sp>
      <p:sp>
        <p:nvSpPr>
          <p:cNvPr id="11" name="Text 9"/>
          <p:cNvSpPr/>
          <p:nvPr/>
        </p:nvSpPr>
        <p:spPr>
          <a:xfrm>
            <a:off x="2514600" y="2423160"/>
            <a:ext cx="192024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Regulatory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Knowledge</a:t>
            </a:r>
            <a:endParaRPr lang="en-US" sz="1100" dirty="0"/>
          </a:p>
        </p:txBody>
      </p:sp>
      <p:sp>
        <p:nvSpPr>
          <p:cNvPr id="12" name="Shape 10"/>
          <p:cNvSpPr/>
          <p:nvPr/>
        </p:nvSpPr>
        <p:spPr>
          <a:xfrm>
            <a:off x="4663440" y="2331720"/>
            <a:ext cx="1920240" cy="1005840"/>
          </a:xfrm>
          <a:prstGeom prst="rect">
            <a:avLst/>
          </a:prstGeom>
          <a:solidFill>
            <a:srgbClr val="1A6BAD"/>
          </a:solidFill>
          <a:ln w="12700">
            <a:solidFill>
              <a:srgbClr val="1A6BAD"/>
            </a:solidFill>
            <a:prstDash val="solid"/>
          </a:ln>
          <a:effectLst>
            <a:outerShdw sx="100000" sy="100000" kx="0" ky="0" algn="bl" rotWithShape="0" blurRad="127000" dist="38100" dir="8100000">
              <a:srgbClr val="000000">
                <a:alpha val="15000"/>
              </a:srgbClr>
            </a:outerShdw>
          </a:effectLst>
        </p:spPr>
      </p:sp>
      <p:sp>
        <p:nvSpPr>
          <p:cNvPr id="13" name="Text 11"/>
          <p:cNvSpPr/>
          <p:nvPr/>
        </p:nvSpPr>
        <p:spPr>
          <a:xfrm>
            <a:off x="4663440" y="2423160"/>
            <a:ext cx="192024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Regional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Relationships</a:t>
            </a:r>
            <a:endParaRPr lang="en-US" sz="1100" dirty="0"/>
          </a:p>
        </p:txBody>
      </p:sp>
      <p:sp>
        <p:nvSpPr>
          <p:cNvPr id="14" name="Shape 12"/>
          <p:cNvSpPr/>
          <p:nvPr/>
        </p:nvSpPr>
        <p:spPr>
          <a:xfrm>
            <a:off x="6812280" y="2331720"/>
            <a:ext cx="1920240" cy="1005840"/>
          </a:xfrm>
          <a:prstGeom prst="rect">
            <a:avLst/>
          </a:prstGeom>
          <a:solidFill>
            <a:srgbClr val="0A1628"/>
          </a:solidFill>
          <a:ln w="12700">
            <a:solidFill>
              <a:srgbClr val="0A1628"/>
            </a:solidFill>
            <a:prstDash val="solid"/>
          </a:ln>
          <a:effectLst>
            <a:outerShdw sx="100000" sy="100000" kx="0" ky="0" algn="bl" rotWithShape="0" blurRad="127000" dist="38100" dir="8100000">
              <a:srgbClr val="000000">
                <a:alpha val="15000"/>
              </a:srgbClr>
            </a:outerShdw>
          </a:effectLst>
        </p:spPr>
      </p:sp>
      <p:sp>
        <p:nvSpPr>
          <p:cNvPr id="15" name="Text 13"/>
          <p:cNvSpPr/>
          <p:nvPr/>
        </p:nvSpPr>
        <p:spPr>
          <a:xfrm>
            <a:off x="6812280" y="2423160"/>
            <a:ext cx="1920240" cy="8229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Cargo</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Specialty</a:t>
            </a:r>
            <a:endParaRPr lang="en-US" sz="1100" dirty="0"/>
          </a:p>
        </p:txBody>
      </p:sp>
      <p:sp>
        <p:nvSpPr>
          <p:cNvPr id="16" name="Shape 14"/>
          <p:cNvSpPr/>
          <p:nvPr/>
        </p:nvSpPr>
        <p:spPr>
          <a:xfrm>
            <a:off x="365760" y="3520440"/>
            <a:ext cx="8412480" cy="0"/>
          </a:xfrm>
          <a:prstGeom prst="line">
            <a:avLst/>
          </a:prstGeom>
          <a:noFill/>
          <a:ln w="6350">
            <a:solidFill>
              <a:srgbClr val="E8EDF3"/>
            </a:solidFill>
            <a:prstDash val="solid"/>
          </a:ln>
        </p:spPr>
      </p:sp>
      <p:sp>
        <p:nvSpPr>
          <p:cNvPr id="17" name="Shape 15"/>
          <p:cNvSpPr/>
          <p:nvPr/>
        </p:nvSpPr>
        <p:spPr>
          <a:xfrm>
            <a:off x="365760" y="3657600"/>
            <a:ext cx="4023360" cy="1188720"/>
          </a:xfrm>
          <a:prstGeom prst="rect">
            <a:avLst/>
          </a:prstGeom>
          <a:solidFill>
            <a:srgbClr val="EBF4FF"/>
          </a:solidFill>
          <a:ln w="6350">
            <a:solidFill>
              <a:srgbClr val="1A6BAD"/>
            </a:solidFill>
            <a:prstDash val="solid"/>
          </a:ln>
        </p:spPr>
      </p:sp>
      <p:sp>
        <p:nvSpPr>
          <p:cNvPr id="18" name="Text 16"/>
          <p:cNvSpPr/>
          <p:nvPr/>
        </p:nvSpPr>
        <p:spPr>
          <a:xfrm>
            <a:off x="502920" y="3749040"/>
            <a:ext cx="3749040" cy="201168"/>
          </a:xfrm>
          <a:prstGeom prst="rect">
            <a:avLst/>
          </a:prstGeom>
          <a:noFill/>
          <a:ln/>
        </p:spPr>
        <p:txBody>
          <a:bodyPr wrap="square" lIns="0" tIns="0" rIns="0" bIns="0" rtlCol="0" anchor="ctr"/>
          <a:lstStyle/>
          <a:p>
            <a:pPr indent="0" marL="0">
              <a:buNone/>
            </a:pPr>
            <a:r>
              <a:rPr lang="en-US" sz="700" b="1" spc="300" kern="0" dirty="0">
                <a:solidFill>
                  <a:srgbClr val="1A6BAD"/>
                </a:solidFill>
                <a:latin typeface="Calibri" pitchFamily="34" charset="0"/>
                <a:ea typeface="Calibri" pitchFamily="34" charset="-122"/>
                <a:cs typeface="Calibri" pitchFamily="34" charset="-120"/>
              </a:rPr>
              <a:t>VISION</a:t>
            </a:r>
            <a:endParaRPr lang="en-US" sz="700" dirty="0"/>
          </a:p>
        </p:txBody>
      </p:sp>
      <p:sp>
        <p:nvSpPr>
          <p:cNvPr id="19" name="Text 17"/>
          <p:cNvSpPr/>
          <p:nvPr/>
        </p:nvSpPr>
        <p:spPr>
          <a:xfrm>
            <a:off x="502920" y="3931920"/>
            <a:ext cx="3749040" cy="777240"/>
          </a:xfrm>
          <a:prstGeom prst="rect">
            <a:avLst/>
          </a:prstGeom>
          <a:noFill/>
          <a:ln/>
        </p:spPr>
        <p:txBody>
          <a:bodyPr wrap="square" lIns="0" tIns="0" rIns="0" bIns="0" rtlCol="0" anchor="ctr"/>
          <a:lstStyle/>
          <a:p>
            <a:pPr indent="0" marL="0">
              <a:buNone/>
            </a:pPr>
            <a:r>
              <a:rPr lang="en-US" sz="900" dirty="0">
                <a:solidFill>
                  <a:srgbClr val="2D3748"/>
                </a:solidFill>
                <a:latin typeface="Calibri" pitchFamily="34" charset="0"/>
                <a:ea typeface="Calibri" pitchFamily="34" charset="-122"/>
                <a:cs typeface="Calibri" pitchFamily="34" charset="-120"/>
              </a:rPr>
              <a:t>To become a leading aviation consultancy connecting Europe, Middle East, and Africa through practical solutions.</a:t>
            </a:r>
            <a:endParaRPr lang="en-US" sz="900" dirty="0"/>
          </a:p>
        </p:txBody>
      </p:sp>
      <p:sp>
        <p:nvSpPr>
          <p:cNvPr id="20" name="Shape 18"/>
          <p:cNvSpPr/>
          <p:nvPr/>
        </p:nvSpPr>
        <p:spPr>
          <a:xfrm>
            <a:off x="4754880" y="3657600"/>
            <a:ext cx="4023360" cy="1188720"/>
          </a:xfrm>
          <a:prstGeom prst="rect">
            <a:avLst/>
          </a:prstGeom>
          <a:solidFill>
            <a:srgbClr val="FFFBF0"/>
          </a:solidFill>
          <a:ln w="6350">
            <a:solidFill>
              <a:srgbClr val="C9A84C"/>
            </a:solidFill>
            <a:prstDash val="solid"/>
          </a:ln>
        </p:spPr>
      </p:sp>
      <p:sp>
        <p:nvSpPr>
          <p:cNvPr id="21" name="Text 19"/>
          <p:cNvSpPr/>
          <p:nvPr/>
        </p:nvSpPr>
        <p:spPr>
          <a:xfrm>
            <a:off x="4892040" y="3749040"/>
            <a:ext cx="3749040" cy="201168"/>
          </a:xfrm>
          <a:prstGeom prst="rect">
            <a:avLst/>
          </a:prstGeom>
          <a:noFill/>
          <a:ln/>
        </p:spPr>
        <p:txBody>
          <a:bodyPr wrap="square" lIns="0" tIns="0" rIns="0" bIns="0" rtlCol="0" anchor="ctr"/>
          <a:lstStyle/>
          <a:p>
            <a:pPr indent="0" marL="0">
              <a:buNone/>
            </a:pPr>
            <a:r>
              <a:rPr lang="en-US" sz="700" b="1" spc="300" kern="0" dirty="0">
                <a:solidFill>
                  <a:srgbClr val="C9A84C"/>
                </a:solidFill>
                <a:latin typeface="Calibri" pitchFamily="34" charset="0"/>
                <a:ea typeface="Calibri" pitchFamily="34" charset="-122"/>
                <a:cs typeface="Calibri" pitchFamily="34" charset="-120"/>
              </a:rPr>
              <a:t>MISSION</a:t>
            </a:r>
            <a:endParaRPr lang="en-US" sz="700" dirty="0"/>
          </a:p>
        </p:txBody>
      </p:sp>
      <p:sp>
        <p:nvSpPr>
          <p:cNvPr id="22" name="Text 20"/>
          <p:cNvSpPr/>
          <p:nvPr/>
        </p:nvSpPr>
        <p:spPr>
          <a:xfrm>
            <a:off x="4892040" y="3931920"/>
            <a:ext cx="3749040" cy="777240"/>
          </a:xfrm>
          <a:prstGeom prst="rect">
            <a:avLst/>
          </a:prstGeom>
          <a:noFill/>
          <a:ln/>
        </p:spPr>
        <p:txBody>
          <a:bodyPr wrap="square" lIns="0" tIns="0" rIns="0" bIns="0" rtlCol="0" anchor="ctr"/>
          <a:lstStyle/>
          <a:p>
            <a:pPr indent="0" marL="0">
              <a:buNone/>
            </a:pPr>
            <a:r>
              <a:rPr lang="en-US" sz="900" dirty="0">
                <a:solidFill>
                  <a:srgbClr val="2D3748"/>
                </a:solidFill>
                <a:latin typeface="Calibri" pitchFamily="34" charset="0"/>
                <a:ea typeface="Calibri" pitchFamily="34" charset="-122"/>
                <a:cs typeface="Calibri" pitchFamily="34" charset="-120"/>
              </a:rPr>
              <a:t>To provide turnkey aviation solutions — from airline setup and certification to operational management and growth.</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457200" y="228600"/>
            <a:ext cx="8229600" cy="228600"/>
          </a:xfrm>
          <a:prstGeom prst="rect">
            <a:avLst/>
          </a:prstGeom>
          <a:noFill/>
          <a:ln/>
        </p:spPr>
        <p:txBody>
          <a:bodyPr wrap="square" lIns="0" tIns="0" rIns="0" bIns="0" rtlCol="0" anchor="ctr"/>
          <a:lstStyle/>
          <a:p>
            <a:pPr indent="0" marL="0">
              <a:buNone/>
            </a:pPr>
            <a:r>
              <a:rPr lang="en-US" sz="800" b="1" spc="400" kern="0" dirty="0">
                <a:solidFill>
                  <a:srgbClr val="C9A84C"/>
                </a:solidFill>
                <a:latin typeface="Calibri" pitchFamily="34" charset="0"/>
                <a:ea typeface="Calibri" pitchFamily="34" charset="-122"/>
                <a:cs typeface="Calibri" pitchFamily="34" charset="-120"/>
              </a:rPr>
              <a:t>WHAT WE OFFER</a:t>
            </a:r>
            <a:endParaRPr lang="en-US" sz="800" dirty="0"/>
          </a:p>
        </p:txBody>
      </p:sp>
      <p:sp>
        <p:nvSpPr>
          <p:cNvPr id="4" name="Text 2"/>
          <p:cNvSpPr/>
          <p:nvPr/>
        </p:nvSpPr>
        <p:spPr>
          <a:xfrm>
            <a:off x="457200" y="41148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Core Service Lines</a:t>
            </a:r>
            <a:endParaRPr lang="en-US" sz="2800" dirty="0"/>
          </a:p>
        </p:txBody>
      </p:sp>
      <p:sp>
        <p:nvSpPr>
          <p:cNvPr id="5" name="Shape 3"/>
          <p:cNvSpPr/>
          <p:nvPr/>
        </p:nvSpPr>
        <p:spPr>
          <a:xfrm>
            <a:off x="457200" y="960120"/>
            <a:ext cx="8229600" cy="0"/>
          </a:xfrm>
          <a:prstGeom prst="line">
            <a:avLst/>
          </a:prstGeom>
          <a:noFill/>
          <a:ln w="19050">
            <a:solidFill>
              <a:srgbClr val="C9A84C"/>
            </a:solidFill>
            <a:prstDash val="solid"/>
          </a:ln>
        </p:spPr>
      </p:sp>
      <p:sp>
        <p:nvSpPr>
          <p:cNvPr id="6" name="Shape 4"/>
          <p:cNvSpPr/>
          <p:nvPr/>
        </p:nvSpPr>
        <p:spPr>
          <a:xfrm>
            <a:off x="365760" y="1143000"/>
            <a:ext cx="1920240" cy="1691640"/>
          </a:xfrm>
          <a:prstGeom prst="rect">
            <a:avLst/>
          </a:prstGeom>
          <a:solidFill>
            <a:srgbClr val="1A6BAD"/>
          </a:solidFill>
          <a:ln w="12700">
            <a:solidFill>
              <a:srgbClr val="1A3A5C"/>
            </a:solidFill>
            <a:prstDash val="solid"/>
          </a:ln>
          <a:effectLst>
            <a:outerShdw sx="100000" sy="100000" kx="0" ky="0" algn="bl" rotWithShape="0" blurRad="127000" dist="38100" dir="8100000">
              <a:srgbClr val="000000">
                <a:alpha val="15000"/>
              </a:srgbClr>
            </a:outerShdw>
          </a:effectLst>
        </p:spPr>
      </p:sp>
      <p:sp>
        <p:nvSpPr>
          <p:cNvPr id="7" name="Shape 5"/>
          <p:cNvSpPr/>
          <p:nvPr/>
        </p:nvSpPr>
        <p:spPr>
          <a:xfrm>
            <a:off x="365760" y="1143000"/>
            <a:ext cx="1920240" cy="45720"/>
          </a:xfrm>
          <a:prstGeom prst="rect">
            <a:avLst/>
          </a:prstGeom>
          <a:solidFill>
            <a:srgbClr val="C9A84C"/>
          </a:solidFill>
          <a:ln w="12700">
            <a:solidFill>
              <a:srgbClr val="C9A84C"/>
            </a:solidFill>
            <a:prstDash val="solid"/>
          </a:ln>
        </p:spPr>
      </p:sp>
      <p:sp>
        <p:nvSpPr>
          <p:cNvPr id="8" name="Text 6"/>
          <p:cNvSpPr/>
          <p:nvPr/>
        </p:nvSpPr>
        <p:spPr>
          <a:xfrm>
            <a:off x="438912" y="1234440"/>
            <a:ext cx="1783080" cy="5029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AOC &amp; Airline</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Setup</a:t>
            </a:r>
            <a:endParaRPr lang="en-US" sz="1000" dirty="0"/>
          </a:p>
        </p:txBody>
      </p:sp>
      <p:sp>
        <p:nvSpPr>
          <p:cNvPr id="9" name="Text 7"/>
          <p:cNvSpPr/>
          <p:nvPr/>
        </p:nvSpPr>
        <p:spPr>
          <a:xfrm>
            <a:off x="438912" y="1737360"/>
            <a:ext cx="1783080" cy="1005840"/>
          </a:xfrm>
          <a:prstGeom prst="rect">
            <a:avLst/>
          </a:prstGeom>
          <a:noFill/>
          <a:ln/>
        </p:spPr>
        <p:txBody>
          <a:bodyPr wrap="square" lIns="0" tIns="0" rIns="0" bIns="0" rtlCol="0" anchor="t"/>
          <a:lstStyle/>
          <a:p>
            <a:pPr indent="0" marL="0">
              <a:buNone/>
            </a:pPr>
            <a:r>
              <a:rPr lang="en-US" sz="750" dirty="0">
                <a:solidFill>
                  <a:srgbClr val="8FA3B4"/>
                </a:solidFill>
                <a:latin typeface="Calibri" pitchFamily="34" charset="0"/>
                <a:ea typeface="Calibri" pitchFamily="34" charset="-122"/>
                <a:cs typeface="Calibri" pitchFamily="34" charset="-120"/>
              </a:rPr>
              <a:t>Full regulatory coordination, manuals, SMS, postholder recruitment</a:t>
            </a:r>
            <a:endParaRPr lang="en-US" sz="750" dirty="0"/>
          </a:p>
        </p:txBody>
      </p:sp>
      <p:sp>
        <p:nvSpPr>
          <p:cNvPr id="10" name="Shape 8"/>
          <p:cNvSpPr/>
          <p:nvPr/>
        </p:nvSpPr>
        <p:spPr>
          <a:xfrm>
            <a:off x="2468880" y="1143000"/>
            <a:ext cx="1920240" cy="1691640"/>
          </a:xfrm>
          <a:prstGeom prst="rect">
            <a:avLst/>
          </a:prstGeom>
          <a:solidFill>
            <a:srgbClr val="1A6BAD"/>
          </a:solidFill>
          <a:ln w="12700">
            <a:solidFill>
              <a:srgbClr val="1A3A5C"/>
            </a:solidFill>
            <a:prstDash val="solid"/>
          </a:ln>
          <a:effectLst>
            <a:outerShdw sx="100000" sy="100000" kx="0" ky="0" algn="bl" rotWithShape="0" blurRad="127000" dist="38100" dir="8100000">
              <a:srgbClr val="000000">
                <a:alpha val="15000"/>
              </a:srgbClr>
            </a:outerShdw>
          </a:effectLst>
        </p:spPr>
      </p:sp>
      <p:sp>
        <p:nvSpPr>
          <p:cNvPr id="11" name="Shape 9"/>
          <p:cNvSpPr/>
          <p:nvPr/>
        </p:nvSpPr>
        <p:spPr>
          <a:xfrm>
            <a:off x="2468880" y="1143000"/>
            <a:ext cx="1920240" cy="45720"/>
          </a:xfrm>
          <a:prstGeom prst="rect">
            <a:avLst/>
          </a:prstGeom>
          <a:solidFill>
            <a:srgbClr val="C9A84C"/>
          </a:solidFill>
          <a:ln w="12700">
            <a:solidFill>
              <a:srgbClr val="C9A84C"/>
            </a:solidFill>
            <a:prstDash val="solid"/>
          </a:ln>
        </p:spPr>
      </p:sp>
      <p:sp>
        <p:nvSpPr>
          <p:cNvPr id="12" name="Text 10"/>
          <p:cNvSpPr/>
          <p:nvPr/>
        </p:nvSpPr>
        <p:spPr>
          <a:xfrm>
            <a:off x="2542032" y="1234440"/>
            <a:ext cx="1783080" cy="5029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Airline</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Management</a:t>
            </a:r>
            <a:endParaRPr lang="en-US" sz="1000" dirty="0"/>
          </a:p>
        </p:txBody>
      </p:sp>
      <p:sp>
        <p:nvSpPr>
          <p:cNvPr id="13" name="Text 11"/>
          <p:cNvSpPr/>
          <p:nvPr/>
        </p:nvSpPr>
        <p:spPr>
          <a:xfrm>
            <a:off x="2542032" y="1737360"/>
            <a:ext cx="1783080" cy="1005840"/>
          </a:xfrm>
          <a:prstGeom prst="rect">
            <a:avLst/>
          </a:prstGeom>
          <a:noFill/>
          <a:ln/>
        </p:spPr>
        <p:txBody>
          <a:bodyPr wrap="square" lIns="0" tIns="0" rIns="0" bIns="0" rtlCol="0" anchor="t"/>
          <a:lstStyle/>
          <a:p>
            <a:pPr indent="0" marL="0">
              <a:buNone/>
            </a:pPr>
            <a:r>
              <a:rPr lang="en-US" sz="750" dirty="0">
                <a:solidFill>
                  <a:srgbClr val="8FA3B4"/>
                </a:solidFill>
                <a:latin typeface="Calibri" pitchFamily="34" charset="0"/>
                <a:ea typeface="Calibri" pitchFamily="34" charset="-122"/>
                <a:cs typeface="Calibri" pitchFamily="34" charset="-120"/>
              </a:rPr>
              <a:t>Interim &amp; full management, commercial, revenue &amp; cost optimization</a:t>
            </a:r>
            <a:endParaRPr lang="en-US" sz="750" dirty="0"/>
          </a:p>
        </p:txBody>
      </p:sp>
      <p:sp>
        <p:nvSpPr>
          <p:cNvPr id="14" name="Shape 12"/>
          <p:cNvSpPr/>
          <p:nvPr/>
        </p:nvSpPr>
        <p:spPr>
          <a:xfrm>
            <a:off x="4572000" y="1143000"/>
            <a:ext cx="1920240" cy="1691640"/>
          </a:xfrm>
          <a:prstGeom prst="rect">
            <a:avLst/>
          </a:prstGeom>
          <a:solidFill>
            <a:srgbClr val="1A6BAD"/>
          </a:solidFill>
          <a:ln w="12700">
            <a:solidFill>
              <a:srgbClr val="1A3A5C"/>
            </a:solidFill>
            <a:prstDash val="solid"/>
          </a:ln>
          <a:effectLst>
            <a:outerShdw sx="100000" sy="100000" kx="0" ky="0" algn="bl" rotWithShape="0" blurRad="127000" dist="38100" dir="8100000">
              <a:srgbClr val="000000">
                <a:alpha val="15000"/>
              </a:srgbClr>
            </a:outerShdw>
          </a:effectLst>
        </p:spPr>
      </p:sp>
      <p:sp>
        <p:nvSpPr>
          <p:cNvPr id="15" name="Shape 13"/>
          <p:cNvSpPr/>
          <p:nvPr/>
        </p:nvSpPr>
        <p:spPr>
          <a:xfrm>
            <a:off x="4572000" y="1143000"/>
            <a:ext cx="1920240" cy="45720"/>
          </a:xfrm>
          <a:prstGeom prst="rect">
            <a:avLst/>
          </a:prstGeom>
          <a:solidFill>
            <a:srgbClr val="C9A84C"/>
          </a:solidFill>
          <a:ln w="12700">
            <a:solidFill>
              <a:srgbClr val="C9A84C"/>
            </a:solidFill>
            <a:prstDash val="solid"/>
          </a:ln>
        </p:spPr>
      </p:sp>
      <p:sp>
        <p:nvSpPr>
          <p:cNvPr id="16" name="Text 14"/>
          <p:cNvSpPr/>
          <p:nvPr/>
        </p:nvSpPr>
        <p:spPr>
          <a:xfrm>
            <a:off x="4645152" y="1234440"/>
            <a:ext cx="1783080" cy="5029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Cargo</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Consulting</a:t>
            </a:r>
            <a:endParaRPr lang="en-US" sz="1000" dirty="0"/>
          </a:p>
        </p:txBody>
      </p:sp>
      <p:sp>
        <p:nvSpPr>
          <p:cNvPr id="17" name="Text 15"/>
          <p:cNvSpPr/>
          <p:nvPr/>
        </p:nvSpPr>
        <p:spPr>
          <a:xfrm>
            <a:off x="4645152" y="1737360"/>
            <a:ext cx="1783080" cy="1005840"/>
          </a:xfrm>
          <a:prstGeom prst="rect">
            <a:avLst/>
          </a:prstGeom>
          <a:noFill/>
          <a:ln/>
        </p:spPr>
        <p:txBody>
          <a:bodyPr wrap="square" lIns="0" tIns="0" rIns="0" bIns="0" rtlCol="0" anchor="t"/>
          <a:lstStyle/>
          <a:p>
            <a:pPr indent="0" marL="0">
              <a:buNone/>
            </a:pPr>
            <a:r>
              <a:rPr lang="en-US" sz="750" dirty="0">
                <a:solidFill>
                  <a:srgbClr val="8FA3B4"/>
                </a:solidFill>
                <a:latin typeface="Calibri" pitchFamily="34" charset="0"/>
                <a:ea typeface="Calibri" pitchFamily="34" charset="-122"/>
                <a:cs typeface="Calibri" pitchFamily="34" charset="-120"/>
              </a:rPr>
              <a:t>Hub development, route planning, cargo profitability analysis</a:t>
            </a:r>
            <a:endParaRPr lang="en-US" sz="750" dirty="0"/>
          </a:p>
        </p:txBody>
      </p:sp>
      <p:sp>
        <p:nvSpPr>
          <p:cNvPr id="18" name="Shape 16"/>
          <p:cNvSpPr/>
          <p:nvPr/>
        </p:nvSpPr>
        <p:spPr>
          <a:xfrm>
            <a:off x="6675120" y="1143000"/>
            <a:ext cx="1920240" cy="1691640"/>
          </a:xfrm>
          <a:prstGeom prst="rect">
            <a:avLst/>
          </a:prstGeom>
          <a:solidFill>
            <a:srgbClr val="1A6BAD"/>
          </a:solidFill>
          <a:ln w="12700">
            <a:solidFill>
              <a:srgbClr val="1A3A5C"/>
            </a:solidFill>
            <a:prstDash val="solid"/>
          </a:ln>
          <a:effectLst>
            <a:outerShdw sx="100000" sy="100000" kx="0" ky="0" algn="bl" rotWithShape="0" blurRad="127000" dist="38100" dir="8100000">
              <a:srgbClr val="000000">
                <a:alpha val="15000"/>
              </a:srgbClr>
            </a:outerShdw>
          </a:effectLst>
        </p:spPr>
      </p:sp>
      <p:sp>
        <p:nvSpPr>
          <p:cNvPr id="19" name="Shape 17"/>
          <p:cNvSpPr/>
          <p:nvPr/>
        </p:nvSpPr>
        <p:spPr>
          <a:xfrm>
            <a:off x="6675120" y="1143000"/>
            <a:ext cx="1920240" cy="45720"/>
          </a:xfrm>
          <a:prstGeom prst="rect">
            <a:avLst/>
          </a:prstGeom>
          <a:solidFill>
            <a:srgbClr val="C9A84C"/>
          </a:solidFill>
          <a:ln w="12700">
            <a:solidFill>
              <a:srgbClr val="C9A84C"/>
            </a:solidFill>
            <a:prstDash val="solid"/>
          </a:ln>
        </p:spPr>
      </p:sp>
      <p:sp>
        <p:nvSpPr>
          <p:cNvPr id="20" name="Text 18"/>
          <p:cNvSpPr/>
          <p:nvPr/>
        </p:nvSpPr>
        <p:spPr>
          <a:xfrm>
            <a:off x="6748272" y="1234440"/>
            <a:ext cx="1783080" cy="5029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Technical &amp;</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Fleet Advisory</a:t>
            </a:r>
            <a:endParaRPr lang="en-US" sz="1000" dirty="0"/>
          </a:p>
        </p:txBody>
      </p:sp>
      <p:sp>
        <p:nvSpPr>
          <p:cNvPr id="21" name="Text 19"/>
          <p:cNvSpPr/>
          <p:nvPr/>
        </p:nvSpPr>
        <p:spPr>
          <a:xfrm>
            <a:off x="6748272" y="1737360"/>
            <a:ext cx="1783080" cy="1005840"/>
          </a:xfrm>
          <a:prstGeom prst="rect">
            <a:avLst/>
          </a:prstGeom>
          <a:noFill/>
          <a:ln/>
        </p:spPr>
        <p:txBody>
          <a:bodyPr wrap="square" lIns="0" tIns="0" rIns="0" bIns="0" rtlCol="0" anchor="t"/>
          <a:lstStyle/>
          <a:p>
            <a:pPr indent="0" marL="0">
              <a:buNone/>
            </a:pPr>
            <a:r>
              <a:rPr lang="en-US" sz="750" dirty="0">
                <a:solidFill>
                  <a:srgbClr val="8FA3B4"/>
                </a:solidFill>
                <a:latin typeface="Calibri" pitchFamily="34" charset="0"/>
                <a:ea typeface="Calibri" pitchFamily="34" charset="-122"/>
                <a:cs typeface="Calibri" pitchFamily="34" charset="-120"/>
              </a:rPr>
              <a:t>Aircraft sourcing, CAMO, MRO partnerships, fleet planning</a:t>
            </a:r>
            <a:endParaRPr lang="en-US" sz="750" dirty="0"/>
          </a:p>
        </p:txBody>
      </p:sp>
      <p:sp>
        <p:nvSpPr>
          <p:cNvPr id="22" name="Shape 20"/>
          <p:cNvSpPr/>
          <p:nvPr/>
        </p:nvSpPr>
        <p:spPr>
          <a:xfrm>
            <a:off x="365760" y="3017520"/>
            <a:ext cx="1920240" cy="1691640"/>
          </a:xfrm>
          <a:prstGeom prst="rect">
            <a:avLst/>
          </a:prstGeom>
          <a:solidFill>
            <a:srgbClr val="0D2137"/>
          </a:solidFill>
          <a:ln w="12700">
            <a:solidFill>
              <a:srgbClr val="1A3A5C"/>
            </a:solidFill>
            <a:prstDash val="solid"/>
          </a:ln>
          <a:effectLst>
            <a:outerShdw sx="100000" sy="100000" kx="0" ky="0" algn="bl" rotWithShape="0" blurRad="127000" dist="38100" dir="8100000">
              <a:srgbClr val="000000">
                <a:alpha val="15000"/>
              </a:srgbClr>
            </a:outerShdw>
          </a:effectLst>
        </p:spPr>
      </p:sp>
      <p:sp>
        <p:nvSpPr>
          <p:cNvPr id="23" name="Shape 21"/>
          <p:cNvSpPr/>
          <p:nvPr/>
        </p:nvSpPr>
        <p:spPr>
          <a:xfrm>
            <a:off x="365760" y="3017520"/>
            <a:ext cx="1920240" cy="45720"/>
          </a:xfrm>
          <a:prstGeom prst="rect">
            <a:avLst/>
          </a:prstGeom>
          <a:solidFill>
            <a:srgbClr val="C9A84C"/>
          </a:solidFill>
          <a:ln w="12700">
            <a:solidFill>
              <a:srgbClr val="C9A84C"/>
            </a:solidFill>
            <a:prstDash val="solid"/>
          </a:ln>
        </p:spPr>
      </p:sp>
      <p:sp>
        <p:nvSpPr>
          <p:cNvPr id="24" name="Text 22"/>
          <p:cNvSpPr/>
          <p:nvPr/>
        </p:nvSpPr>
        <p:spPr>
          <a:xfrm>
            <a:off x="438912" y="3108960"/>
            <a:ext cx="1783080" cy="5029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Ground</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Handling</a:t>
            </a:r>
            <a:endParaRPr lang="en-US" sz="1000" dirty="0"/>
          </a:p>
        </p:txBody>
      </p:sp>
      <p:sp>
        <p:nvSpPr>
          <p:cNvPr id="25" name="Text 23"/>
          <p:cNvSpPr/>
          <p:nvPr/>
        </p:nvSpPr>
        <p:spPr>
          <a:xfrm>
            <a:off x="438912" y="3611880"/>
            <a:ext cx="1783080" cy="1005840"/>
          </a:xfrm>
          <a:prstGeom prst="rect">
            <a:avLst/>
          </a:prstGeom>
          <a:noFill/>
          <a:ln/>
        </p:spPr>
        <p:txBody>
          <a:bodyPr wrap="square" lIns="0" tIns="0" rIns="0" bIns="0" rtlCol="0" anchor="t"/>
          <a:lstStyle/>
          <a:p>
            <a:pPr indent="0" marL="0">
              <a:buNone/>
            </a:pPr>
            <a:r>
              <a:rPr lang="en-US" sz="750" dirty="0">
                <a:solidFill>
                  <a:srgbClr val="8FA3B4"/>
                </a:solidFill>
                <a:latin typeface="Calibri" pitchFamily="34" charset="0"/>
                <a:ea typeface="Calibri" pitchFamily="34" charset="-122"/>
                <a:cs typeface="Calibri" pitchFamily="34" charset="-120"/>
              </a:rPr>
              <a:t>Setup, SOPs, ramp operations, staff training, SLA negotiation</a:t>
            </a:r>
            <a:endParaRPr lang="en-US" sz="750" dirty="0"/>
          </a:p>
        </p:txBody>
      </p:sp>
      <p:sp>
        <p:nvSpPr>
          <p:cNvPr id="26" name="Shape 24"/>
          <p:cNvSpPr/>
          <p:nvPr/>
        </p:nvSpPr>
        <p:spPr>
          <a:xfrm>
            <a:off x="2468880" y="3017520"/>
            <a:ext cx="1920240" cy="1691640"/>
          </a:xfrm>
          <a:prstGeom prst="rect">
            <a:avLst/>
          </a:prstGeom>
          <a:solidFill>
            <a:srgbClr val="0D2137"/>
          </a:solidFill>
          <a:ln w="12700">
            <a:solidFill>
              <a:srgbClr val="1A3A5C"/>
            </a:solidFill>
            <a:prstDash val="solid"/>
          </a:ln>
          <a:effectLst>
            <a:outerShdw sx="100000" sy="100000" kx="0" ky="0" algn="bl" rotWithShape="0" blurRad="127000" dist="38100" dir="8100000">
              <a:srgbClr val="000000">
                <a:alpha val="15000"/>
              </a:srgbClr>
            </a:outerShdw>
          </a:effectLst>
        </p:spPr>
      </p:sp>
      <p:sp>
        <p:nvSpPr>
          <p:cNvPr id="27" name="Shape 25"/>
          <p:cNvSpPr/>
          <p:nvPr/>
        </p:nvSpPr>
        <p:spPr>
          <a:xfrm>
            <a:off x="2468880" y="3017520"/>
            <a:ext cx="1920240" cy="45720"/>
          </a:xfrm>
          <a:prstGeom prst="rect">
            <a:avLst/>
          </a:prstGeom>
          <a:solidFill>
            <a:srgbClr val="C9A84C"/>
          </a:solidFill>
          <a:ln w="12700">
            <a:solidFill>
              <a:srgbClr val="C9A84C"/>
            </a:solidFill>
            <a:prstDash val="solid"/>
          </a:ln>
        </p:spPr>
      </p:sp>
      <p:sp>
        <p:nvSpPr>
          <p:cNvPr id="28" name="Text 26"/>
          <p:cNvSpPr/>
          <p:nvPr/>
        </p:nvSpPr>
        <p:spPr>
          <a:xfrm>
            <a:off x="2542032" y="3108960"/>
            <a:ext cx="1783080" cy="5029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Investment</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Advisory</a:t>
            </a:r>
            <a:endParaRPr lang="en-US" sz="1000" dirty="0"/>
          </a:p>
        </p:txBody>
      </p:sp>
      <p:sp>
        <p:nvSpPr>
          <p:cNvPr id="29" name="Text 27"/>
          <p:cNvSpPr/>
          <p:nvPr/>
        </p:nvSpPr>
        <p:spPr>
          <a:xfrm>
            <a:off x="2542032" y="3611880"/>
            <a:ext cx="1783080" cy="1005840"/>
          </a:xfrm>
          <a:prstGeom prst="rect">
            <a:avLst/>
          </a:prstGeom>
          <a:noFill/>
          <a:ln/>
        </p:spPr>
        <p:txBody>
          <a:bodyPr wrap="square" lIns="0" tIns="0" rIns="0" bIns="0" rtlCol="0" anchor="t"/>
          <a:lstStyle/>
          <a:p>
            <a:pPr indent="0" marL="0">
              <a:buNone/>
            </a:pPr>
            <a:r>
              <a:rPr lang="en-US" sz="750" dirty="0">
                <a:solidFill>
                  <a:srgbClr val="8FA3B4"/>
                </a:solidFill>
                <a:latin typeface="Calibri" pitchFamily="34" charset="0"/>
                <a:ea typeface="Calibri" pitchFamily="34" charset="-122"/>
                <a:cs typeface="Calibri" pitchFamily="34" charset="-120"/>
              </a:rPr>
              <a:t>Feasibility studies, financial modeling, due diligence, M&amp;A</a:t>
            </a:r>
            <a:endParaRPr lang="en-US" sz="750" dirty="0"/>
          </a:p>
        </p:txBody>
      </p:sp>
      <p:sp>
        <p:nvSpPr>
          <p:cNvPr id="30" name="Shape 28"/>
          <p:cNvSpPr/>
          <p:nvPr/>
        </p:nvSpPr>
        <p:spPr>
          <a:xfrm>
            <a:off x="4572000" y="3017520"/>
            <a:ext cx="1920240" cy="1691640"/>
          </a:xfrm>
          <a:prstGeom prst="rect">
            <a:avLst/>
          </a:prstGeom>
          <a:solidFill>
            <a:srgbClr val="0D2137"/>
          </a:solidFill>
          <a:ln w="12700">
            <a:solidFill>
              <a:srgbClr val="1A3A5C"/>
            </a:solidFill>
            <a:prstDash val="solid"/>
          </a:ln>
          <a:effectLst>
            <a:outerShdw sx="100000" sy="100000" kx="0" ky="0" algn="bl" rotWithShape="0" blurRad="127000" dist="38100" dir="8100000">
              <a:srgbClr val="000000">
                <a:alpha val="15000"/>
              </a:srgbClr>
            </a:outerShdw>
          </a:effectLst>
        </p:spPr>
      </p:sp>
      <p:sp>
        <p:nvSpPr>
          <p:cNvPr id="31" name="Shape 29"/>
          <p:cNvSpPr/>
          <p:nvPr/>
        </p:nvSpPr>
        <p:spPr>
          <a:xfrm>
            <a:off x="4572000" y="3017520"/>
            <a:ext cx="1920240" cy="45720"/>
          </a:xfrm>
          <a:prstGeom prst="rect">
            <a:avLst/>
          </a:prstGeom>
          <a:solidFill>
            <a:srgbClr val="C9A84C"/>
          </a:solidFill>
          <a:ln w="12700">
            <a:solidFill>
              <a:srgbClr val="C9A84C"/>
            </a:solidFill>
            <a:prstDash val="solid"/>
          </a:ln>
        </p:spPr>
      </p:sp>
      <p:sp>
        <p:nvSpPr>
          <p:cNvPr id="32" name="Text 30"/>
          <p:cNvSpPr/>
          <p:nvPr/>
        </p:nvSpPr>
        <p:spPr>
          <a:xfrm>
            <a:off x="4645152" y="3108960"/>
            <a:ext cx="1783080" cy="5029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Catering &amp;</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Hospitality</a:t>
            </a:r>
            <a:endParaRPr lang="en-US" sz="1000" dirty="0"/>
          </a:p>
        </p:txBody>
      </p:sp>
      <p:sp>
        <p:nvSpPr>
          <p:cNvPr id="33" name="Text 31"/>
          <p:cNvSpPr/>
          <p:nvPr/>
        </p:nvSpPr>
        <p:spPr>
          <a:xfrm>
            <a:off x="4645152" y="3611880"/>
            <a:ext cx="1783080" cy="1005840"/>
          </a:xfrm>
          <a:prstGeom prst="rect">
            <a:avLst/>
          </a:prstGeom>
          <a:noFill/>
          <a:ln/>
        </p:spPr>
        <p:txBody>
          <a:bodyPr wrap="square" lIns="0" tIns="0" rIns="0" bIns="0" rtlCol="0" anchor="t"/>
          <a:lstStyle/>
          <a:p>
            <a:pPr indent="0" marL="0">
              <a:buNone/>
            </a:pPr>
            <a:r>
              <a:rPr lang="en-US" sz="750" dirty="0">
                <a:solidFill>
                  <a:srgbClr val="8FA3B4"/>
                </a:solidFill>
                <a:latin typeface="Calibri" pitchFamily="34" charset="0"/>
                <a:ea typeface="Calibri" pitchFamily="34" charset="-122"/>
                <a:cs typeface="Calibri" pitchFamily="34" charset="-120"/>
              </a:rPr>
              <a:t>Catering setup, inflight concepts, VIP aviation, lounge consulting</a:t>
            </a:r>
            <a:endParaRPr lang="en-US" sz="750" dirty="0"/>
          </a:p>
        </p:txBody>
      </p:sp>
      <p:sp>
        <p:nvSpPr>
          <p:cNvPr id="34" name="Shape 32"/>
          <p:cNvSpPr/>
          <p:nvPr/>
        </p:nvSpPr>
        <p:spPr>
          <a:xfrm>
            <a:off x="6675120" y="3017520"/>
            <a:ext cx="1920240" cy="1691640"/>
          </a:xfrm>
          <a:prstGeom prst="rect">
            <a:avLst/>
          </a:prstGeom>
          <a:solidFill>
            <a:srgbClr val="0D2137"/>
          </a:solidFill>
          <a:ln w="12700">
            <a:solidFill>
              <a:srgbClr val="1A3A5C"/>
            </a:solidFill>
            <a:prstDash val="solid"/>
          </a:ln>
          <a:effectLst>
            <a:outerShdw sx="100000" sy="100000" kx="0" ky="0" algn="bl" rotWithShape="0" blurRad="127000" dist="38100" dir="8100000">
              <a:srgbClr val="000000">
                <a:alpha val="15000"/>
              </a:srgbClr>
            </a:outerShdw>
          </a:effectLst>
        </p:spPr>
      </p:sp>
      <p:sp>
        <p:nvSpPr>
          <p:cNvPr id="35" name="Shape 33"/>
          <p:cNvSpPr/>
          <p:nvPr/>
        </p:nvSpPr>
        <p:spPr>
          <a:xfrm>
            <a:off x="6675120" y="3017520"/>
            <a:ext cx="1920240" cy="45720"/>
          </a:xfrm>
          <a:prstGeom prst="rect">
            <a:avLst/>
          </a:prstGeom>
          <a:solidFill>
            <a:srgbClr val="C9A84C"/>
          </a:solidFill>
          <a:ln w="12700">
            <a:solidFill>
              <a:srgbClr val="C9A84C"/>
            </a:solidFill>
            <a:prstDash val="solid"/>
          </a:ln>
        </p:spPr>
      </p:sp>
      <p:sp>
        <p:nvSpPr>
          <p:cNvPr id="36" name="Text 34"/>
          <p:cNvSpPr/>
          <p:nvPr/>
        </p:nvSpPr>
        <p:spPr>
          <a:xfrm>
            <a:off x="6748272" y="3108960"/>
            <a:ext cx="1783080" cy="5029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Training &amp;</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HR</a:t>
            </a:r>
            <a:endParaRPr lang="en-US" sz="1000" dirty="0"/>
          </a:p>
        </p:txBody>
      </p:sp>
      <p:sp>
        <p:nvSpPr>
          <p:cNvPr id="37" name="Text 35"/>
          <p:cNvSpPr/>
          <p:nvPr/>
        </p:nvSpPr>
        <p:spPr>
          <a:xfrm>
            <a:off x="6748272" y="3611880"/>
            <a:ext cx="1783080" cy="1005840"/>
          </a:xfrm>
          <a:prstGeom prst="rect">
            <a:avLst/>
          </a:prstGeom>
          <a:noFill/>
          <a:ln/>
        </p:spPr>
        <p:txBody>
          <a:bodyPr wrap="square" lIns="0" tIns="0" rIns="0" bIns="0" rtlCol="0" anchor="t"/>
          <a:lstStyle/>
          <a:p>
            <a:pPr indent="0" marL="0">
              <a:buNone/>
            </a:pPr>
            <a:r>
              <a:rPr lang="en-US" sz="750" dirty="0">
                <a:solidFill>
                  <a:srgbClr val="8FA3B4"/>
                </a:solidFill>
                <a:latin typeface="Calibri" pitchFamily="34" charset="0"/>
                <a:ea typeface="Calibri" pitchFamily="34" charset="-122"/>
                <a:cs typeface="Calibri" pitchFamily="34" charset="-120"/>
              </a:rPr>
              <a:t>Aviation recruitment, postholder sourcing, training programs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64592" cy="5148072"/>
          </a:xfrm>
          <a:prstGeom prst="rect">
            <a:avLst/>
          </a:prstGeom>
          <a:solidFill>
            <a:srgbClr val="0A1628"/>
          </a:solidFill>
          <a:ln w="12700">
            <a:solidFill>
              <a:srgbClr val="0A1628"/>
            </a:solidFill>
            <a:prstDash val="solid"/>
          </a:ln>
        </p:spPr>
      </p:sp>
      <p:sp>
        <p:nvSpPr>
          <p:cNvPr id="3" name="Shape 1"/>
          <p:cNvSpPr/>
          <p:nvPr/>
        </p:nvSpPr>
        <p:spPr>
          <a:xfrm>
            <a:off x="164592" y="0"/>
            <a:ext cx="45720" cy="5148072"/>
          </a:xfrm>
          <a:prstGeom prst="rect">
            <a:avLst/>
          </a:prstGeom>
          <a:solidFill>
            <a:srgbClr val="C9A84C"/>
          </a:solidFill>
          <a:ln w="12700">
            <a:solidFill>
              <a:srgbClr val="C9A84C"/>
            </a:solidFill>
            <a:prstDash val="solid"/>
          </a:ln>
        </p:spPr>
      </p:sp>
      <p:sp>
        <p:nvSpPr>
          <p:cNvPr id="4" name="Text 2"/>
          <p:cNvSpPr/>
          <p:nvPr/>
        </p:nvSpPr>
        <p:spPr>
          <a:xfrm>
            <a:off x="365760" y="320040"/>
            <a:ext cx="8503920" cy="274320"/>
          </a:xfrm>
          <a:prstGeom prst="rect">
            <a:avLst/>
          </a:prstGeom>
          <a:noFill/>
          <a:ln/>
        </p:spPr>
        <p:txBody>
          <a:bodyPr wrap="square" lIns="0" tIns="0" rIns="0" bIns="0" rtlCol="0" anchor="ctr"/>
          <a:lstStyle/>
          <a:p>
            <a:pPr indent="0" marL="0">
              <a:buNone/>
            </a:pPr>
            <a:r>
              <a:rPr lang="en-US" sz="800" b="1" spc="400" kern="0" dirty="0">
                <a:solidFill>
                  <a:srgbClr val="C9A84C"/>
                </a:solidFill>
                <a:latin typeface="Calibri" pitchFamily="34" charset="0"/>
                <a:ea typeface="Calibri" pitchFamily="34" charset="-122"/>
                <a:cs typeface="Calibri" pitchFamily="34" charset="-120"/>
              </a:rPr>
              <a:t>WHERE WE OPERATE</a:t>
            </a:r>
            <a:endParaRPr lang="en-US" sz="800" dirty="0"/>
          </a:p>
        </p:txBody>
      </p:sp>
      <p:sp>
        <p:nvSpPr>
          <p:cNvPr id="5" name="Text 3"/>
          <p:cNvSpPr/>
          <p:nvPr/>
        </p:nvSpPr>
        <p:spPr>
          <a:xfrm>
            <a:off x="365760" y="548640"/>
            <a:ext cx="8503920" cy="548640"/>
          </a:xfrm>
          <a:prstGeom prst="rect">
            <a:avLst/>
          </a:prstGeom>
          <a:noFill/>
          <a:ln/>
        </p:spPr>
        <p:txBody>
          <a:bodyPr wrap="square" lIns="0" tIns="0" rIns="0" bIns="0"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Geographic Focus — Phase 1</a:t>
            </a:r>
            <a:endParaRPr lang="en-US" sz="2800" dirty="0"/>
          </a:p>
        </p:txBody>
      </p:sp>
      <p:sp>
        <p:nvSpPr>
          <p:cNvPr id="6" name="Shape 4"/>
          <p:cNvSpPr/>
          <p:nvPr/>
        </p:nvSpPr>
        <p:spPr>
          <a:xfrm>
            <a:off x="365760" y="1143000"/>
            <a:ext cx="8412480" cy="0"/>
          </a:xfrm>
          <a:prstGeom prst="line">
            <a:avLst/>
          </a:prstGeom>
          <a:noFill/>
          <a:ln w="19050">
            <a:solidFill>
              <a:srgbClr val="C9A84C"/>
            </a:solidFill>
            <a:prstDash val="solid"/>
          </a:ln>
        </p:spPr>
      </p:sp>
      <p:sp>
        <p:nvSpPr>
          <p:cNvPr id="7" name="Shape 5"/>
          <p:cNvSpPr/>
          <p:nvPr/>
        </p:nvSpPr>
        <p:spPr>
          <a:xfrm>
            <a:off x="365760" y="1325880"/>
            <a:ext cx="4023360" cy="1600200"/>
          </a:xfrm>
          <a:prstGeom prst="rect">
            <a:avLst/>
          </a:prstGeom>
          <a:solidFill>
            <a:srgbClr val="1A6BAD"/>
          </a:solidFill>
          <a:ln w="12700">
            <a:solidFill>
              <a:srgbClr val="1A6BAD"/>
            </a:solidFill>
            <a:prstDash val="solid"/>
          </a:ln>
          <a:effectLst>
            <a:outerShdw sx="100000" sy="100000" kx="0" ky="0" algn="bl" rotWithShape="0" blurRad="127000" dist="38100" dir="8100000">
              <a:srgbClr val="000000">
                <a:alpha val="15000"/>
              </a:srgbClr>
            </a:outerShdw>
          </a:effectLst>
        </p:spPr>
      </p:sp>
      <p:sp>
        <p:nvSpPr>
          <p:cNvPr id="8" name="Shape 6"/>
          <p:cNvSpPr/>
          <p:nvPr/>
        </p:nvSpPr>
        <p:spPr>
          <a:xfrm>
            <a:off x="365760" y="1325880"/>
            <a:ext cx="54864" cy="1600200"/>
          </a:xfrm>
          <a:prstGeom prst="rect">
            <a:avLst/>
          </a:prstGeom>
          <a:solidFill>
            <a:srgbClr val="C9A84C"/>
          </a:solidFill>
          <a:ln w="12700">
            <a:solidFill>
              <a:srgbClr val="C9A84C"/>
            </a:solidFill>
            <a:prstDash val="solid"/>
          </a:ln>
        </p:spPr>
      </p:sp>
      <p:sp>
        <p:nvSpPr>
          <p:cNvPr id="9" name="Text 7"/>
          <p:cNvSpPr/>
          <p:nvPr/>
        </p:nvSpPr>
        <p:spPr>
          <a:xfrm>
            <a:off x="548640" y="1435608"/>
            <a:ext cx="374904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Egypt &amp; North Africa</a:t>
            </a:r>
            <a:endParaRPr lang="en-US" sz="1200" dirty="0"/>
          </a:p>
        </p:txBody>
      </p:sp>
      <p:sp>
        <p:nvSpPr>
          <p:cNvPr id="10" name="Text 8"/>
          <p:cNvSpPr/>
          <p:nvPr/>
        </p:nvSpPr>
        <p:spPr>
          <a:xfrm>
            <a:off x="548640" y="1755648"/>
            <a:ext cx="3749040" cy="274320"/>
          </a:xfrm>
          <a:prstGeom prst="rect">
            <a:avLst/>
          </a:prstGeom>
          <a:noFill/>
          <a:ln/>
        </p:spPr>
        <p:txBody>
          <a:bodyPr wrap="square" lIns="0" tIns="0" rIns="0" bIns="0" rtlCol="0" anchor="ctr"/>
          <a:lstStyle/>
          <a:p>
            <a:pPr indent="0" marL="0">
              <a:buNone/>
            </a:pPr>
            <a:r>
              <a:rPr lang="en-US" sz="900" dirty="0">
                <a:solidFill>
                  <a:srgbClr val="C9A84C"/>
                </a:solidFill>
                <a:latin typeface="Calibri" pitchFamily="34" charset="0"/>
                <a:ea typeface="Calibri" pitchFamily="34" charset="-122"/>
                <a:cs typeface="Calibri" pitchFamily="34" charset="-120"/>
              </a:rPr>
              <a:t>Egypt, Libya, Algeria, Tunisia</a:t>
            </a:r>
            <a:endParaRPr lang="en-US" sz="900" dirty="0"/>
          </a:p>
        </p:txBody>
      </p:sp>
      <p:sp>
        <p:nvSpPr>
          <p:cNvPr id="11" name="Shape 9"/>
          <p:cNvSpPr/>
          <p:nvPr/>
        </p:nvSpPr>
        <p:spPr>
          <a:xfrm>
            <a:off x="548640" y="2029968"/>
            <a:ext cx="3657600" cy="0"/>
          </a:xfrm>
          <a:prstGeom prst="line">
            <a:avLst/>
          </a:prstGeom>
          <a:noFill/>
          <a:ln w="6350">
            <a:solidFill>
              <a:srgbClr val="1A3A5C"/>
            </a:solidFill>
            <a:prstDash val="solid"/>
          </a:ln>
        </p:spPr>
      </p:sp>
      <p:sp>
        <p:nvSpPr>
          <p:cNvPr id="12" name="Text 10"/>
          <p:cNvSpPr/>
          <p:nvPr/>
        </p:nvSpPr>
        <p:spPr>
          <a:xfrm>
            <a:off x="548640" y="2103120"/>
            <a:ext cx="3749040" cy="685800"/>
          </a:xfrm>
          <a:prstGeom prst="rect">
            <a:avLst/>
          </a:prstGeom>
          <a:noFill/>
          <a:ln/>
        </p:spPr>
        <p:txBody>
          <a:bodyPr wrap="square" lIns="0" tIns="0" rIns="0" bIns="0" rtlCol="0" anchor="ctr"/>
          <a:lstStyle/>
          <a:p>
            <a:pPr indent="0" marL="0">
              <a:buNone/>
            </a:pPr>
            <a:r>
              <a:rPr lang="en-US" sz="900" dirty="0">
                <a:solidFill>
                  <a:srgbClr val="8FA3B4"/>
                </a:solidFill>
                <a:latin typeface="Calibri" pitchFamily="34" charset="0"/>
                <a:ea typeface="Calibri" pitchFamily="34" charset="-122"/>
                <a:cs typeface="Calibri" pitchFamily="34" charset="-120"/>
              </a:rPr>
              <a:t>AOC consulting, cargo hubs, airline startups</a:t>
            </a:r>
            <a:endParaRPr lang="en-US" sz="900" dirty="0"/>
          </a:p>
        </p:txBody>
      </p:sp>
      <p:sp>
        <p:nvSpPr>
          <p:cNvPr id="13" name="Shape 11"/>
          <p:cNvSpPr/>
          <p:nvPr/>
        </p:nvSpPr>
        <p:spPr>
          <a:xfrm>
            <a:off x="4663440" y="1325880"/>
            <a:ext cx="4023360" cy="1600200"/>
          </a:xfrm>
          <a:prstGeom prst="rect">
            <a:avLst/>
          </a:prstGeom>
          <a:solidFill>
            <a:srgbClr val="0A1628"/>
          </a:solidFill>
          <a:ln w="12700">
            <a:solidFill>
              <a:srgbClr val="0A1628"/>
            </a:solidFill>
            <a:prstDash val="solid"/>
          </a:ln>
          <a:effectLst>
            <a:outerShdw sx="100000" sy="100000" kx="0" ky="0" algn="bl" rotWithShape="0" blurRad="127000" dist="38100" dir="8100000">
              <a:srgbClr val="000000">
                <a:alpha val="15000"/>
              </a:srgbClr>
            </a:outerShdw>
          </a:effectLst>
        </p:spPr>
      </p:sp>
      <p:sp>
        <p:nvSpPr>
          <p:cNvPr id="14" name="Shape 12"/>
          <p:cNvSpPr/>
          <p:nvPr/>
        </p:nvSpPr>
        <p:spPr>
          <a:xfrm>
            <a:off x="4663440" y="1325880"/>
            <a:ext cx="54864" cy="1600200"/>
          </a:xfrm>
          <a:prstGeom prst="rect">
            <a:avLst/>
          </a:prstGeom>
          <a:solidFill>
            <a:srgbClr val="C9A84C"/>
          </a:solidFill>
          <a:ln w="12700">
            <a:solidFill>
              <a:srgbClr val="C9A84C"/>
            </a:solidFill>
            <a:prstDash val="solid"/>
          </a:ln>
        </p:spPr>
      </p:sp>
      <p:sp>
        <p:nvSpPr>
          <p:cNvPr id="15" name="Text 13"/>
          <p:cNvSpPr/>
          <p:nvPr/>
        </p:nvSpPr>
        <p:spPr>
          <a:xfrm>
            <a:off x="4846320" y="1435608"/>
            <a:ext cx="374904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Gulf / GCC</a:t>
            </a:r>
            <a:endParaRPr lang="en-US" sz="1200" dirty="0"/>
          </a:p>
        </p:txBody>
      </p:sp>
      <p:sp>
        <p:nvSpPr>
          <p:cNvPr id="16" name="Text 14"/>
          <p:cNvSpPr/>
          <p:nvPr/>
        </p:nvSpPr>
        <p:spPr>
          <a:xfrm>
            <a:off x="4846320" y="1755648"/>
            <a:ext cx="3749040" cy="274320"/>
          </a:xfrm>
          <a:prstGeom prst="rect">
            <a:avLst/>
          </a:prstGeom>
          <a:noFill/>
          <a:ln/>
        </p:spPr>
        <p:txBody>
          <a:bodyPr wrap="square" lIns="0" tIns="0" rIns="0" bIns="0" rtlCol="0" anchor="ctr"/>
          <a:lstStyle/>
          <a:p>
            <a:pPr indent="0" marL="0">
              <a:buNone/>
            </a:pPr>
            <a:r>
              <a:rPr lang="en-US" sz="900" dirty="0">
                <a:solidFill>
                  <a:srgbClr val="C9A84C"/>
                </a:solidFill>
                <a:latin typeface="Calibri" pitchFamily="34" charset="0"/>
                <a:ea typeface="Calibri" pitchFamily="34" charset="-122"/>
                <a:cs typeface="Calibri" pitchFamily="34" charset="-120"/>
              </a:rPr>
              <a:t>UAE, Saudi Arabia, Kuwait, Qatar</a:t>
            </a:r>
            <a:endParaRPr lang="en-US" sz="900" dirty="0"/>
          </a:p>
        </p:txBody>
      </p:sp>
      <p:sp>
        <p:nvSpPr>
          <p:cNvPr id="17" name="Shape 15"/>
          <p:cNvSpPr/>
          <p:nvPr/>
        </p:nvSpPr>
        <p:spPr>
          <a:xfrm>
            <a:off x="4846320" y="2029968"/>
            <a:ext cx="3657600" cy="0"/>
          </a:xfrm>
          <a:prstGeom prst="line">
            <a:avLst/>
          </a:prstGeom>
          <a:noFill/>
          <a:ln w="6350">
            <a:solidFill>
              <a:srgbClr val="1A3A5C"/>
            </a:solidFill>
            <a:prstDash val="solid"/>
          </a:ln>
        </p:spPr>
      </p:sp>
      <p:sp>
        <p:nvSpPr>
          <p:cNvPr id="18" name="Text 16"/>
          <p:cNvSpPr/>
          <p:nvPr/>
        </p:nvSpPr>
        <p:spPr>
          <a:xfrm>
            <a:off x="4846320" y="2103120"/>
            <a:ext cx="3749040" cy="685800"/>
          </a:xfrm>
          <a:prstGeom prst="rect">
            <a:avLst/>
          </a:prstGeom>
          <a:noFill/>
          <a:ln/>
        </p:spPr>
        <p:txBody>
          <a:bodyPr wrap="square" lIns="0" tIns="0" rIns="0" bIns="0" rtlCol="0" anchor="ctr"/>
          <a:lstStyle/>
          <a:p>
            <a:pPr indent="0" marL="0">
              <a:buNone/>
            </a:pPr>
            <a:r>
              <a:rPr lang="en-US" sz="900" dirty="0">
                <a:solidFill>
                  <a:srgbClr val="8FA3B4"/>
                </a:solidFill>
                <a:latin typeface="Calibri" pitchFamily="34" charset="0"/>
                <a:ea typeface="Calibri" pitchFamily="34" charset="-122"/>
                <a:cs typeface="Calibri" pitchFamily="34" charset="-120"/>
              </a:rPr>
              <a:t>Airline management, cargo, fleet advisory</a:t>
            </a:r>
            <a:endParaRPr lang="en-US" sz="900" dirty="0"/>
          </a:p>
        </p:txBody>
      </p:sp>
      <p:sp>
        <p:nvSpPr>
          <p:cNvPr id="19" name="Shape 17"/>
          <p:cNvSpPr/>
          <p:nvPr/>
        </p:nvSpPr>
        <p:spPr>
          <a:xfrm>
            <a:off x="365760" y="3108960"/>
            <a:ext cx="4023360" cy="1600200"/>
          </a:xfrm>
          <a:prstGeom prst="rect">
            <a:avLst/>
          </a:prstGeom>
          <a:solidFill>
            <a:srgbClr val="1A6BAD"/>
          </a:solidFill>
          <a:ln w="12700">
            <a:solidFill>
              <a:srgbClr val="1A6BAD"/>
            </a:solidFill>
            <a:prstDash val="solid"/>
          </a:ln>
          <a:effectLst>
            <a:outerShdw sx="100000" sy="100000" kx="0" ky="0" algn="bl" rotWithShape="0" blurRad="127000" dist="38100" dir="8100000">
              <a:srgbClr val="000000">
                <a:alpha val="15000"/>
              </a:srgbClr>
            </a:outerShdw>
          </a:effectLst>
        </p:spPr>
      </p:sp>
      <p:sp>
        <p:nvSpPr>
          <p:cNvPr id="20" name="Shape 18"/>
          <p:cNvSpPr/>
          <p:nvPr/>
        </p:nvSpPr>
        <p:spPr>
          <a:xfrm>
            <a:off x="365760" y="3108960"/>
            <a:ext cx="54864" cy="1600200"/>
          </a:xfrm>
          <a:prstGeom prst="rect">
            <a:avLst/>
          </a:prstGeom>
          <a:solidFill>
            <a:srgbClr val="C9A84C"/>
          </a:solidFill>
          <a:ln w="12700">
            <a:solidFill>
              <a:srgbClr val="C9A84C"/>
            </a:solidFill>
            <a:prstDash val="solid"/>
          </a:ln>
        </p:spPr>
      </p:sp>
      <p:sp>
        <p:nvSpPr>
          <p:cNvPr id="21" name="Text 19"/>
          <p:cNvSpPr/>
          <p:nvPr/>
        </p:nvSpPr>
        <p:spPr>
          <a:xfrm>
            <a:off x="548640" y="3218688"/>
            <a:ext cx="374904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Levant &amp; Iraq</a:t>
            </a:r>
            <a:endParaRPr lang="en-US" sz="1200" dirty="0"/>
          </a:p>
        </p:txBody>
      </p:sp>
      <p:sp>
        <p:nvSpPr>
          <p:cNvPr id="22" name="Text 20"/>
          <p:cNvSpPr/>
          <p:nvPr/>
        </p:nvSpPr>
        <p:spPr>
          <a:xfrm>
            <a:off x="548640" y="3538728"/>
            <a:ext cx="3749040" cy="274320"/>
          </a:xfrm>
          <a:prstGeom prst="rect">
            <a:avLst/>
          </a:prstGeom>
          <a:noFill/>
          <a:ln/>
        </p:spPr>
        <p:txBody>
          <a:bodyPr wrap="square" lIns="0" tIns="0" rIns="0" bIns="0" rtlCol="0" anchor="ctr"/>
          <a:lstStyle/>
          <a:p>
            <a:pPr indent="0" marL="0">
              <a:buNone/>
            </a:pPr>
            <a:r>
              <a:rPr lang="en-US" sz="900" dirty="0">
                <a:solidFill>
                  <a:srgbClr val="C9A84C"/>
                </a:solidFill>
                <a:latin typeface="Calibri" pitchFamily="34" charset="0"/>
                <a:ea typeface="Calibri" pitchFamily="34" charset="-122"/>
                <a:cs typeface="Calibri" pitchFamily="34" charset="-120"/>
              </a:rPr>
              <a:t>Iraq, Kurdistan, Jordan</a:t>
            </a:r>
            <a:endParaRPr lang="en-US" sz="900" dirty="0"/>
          </a:p>
        </p:txBody>
      </p:sp>
      <p:sp>
        <p:nvSpPr>
          <p:cNvPr id="23" name="Shape 21"/>
          <p:cNvSpPr/>
          <p:nvPr/>
        </p:nvSpPr>
        <p:spPr>
          <a:xfrm>
            <a:off x="548640" y="3813048"/>
            <a:ext cx="3657600" cy="0"/>
          </a:xfrm>
          <a:prstGeom prst="line">
            <a:avLst/>
          </a:prstGeom>
          <a:noFill/>
          <a:ln w="6350">
            <a:solidFill>
              <a:srgbClr val="1A3A5C"/>
            </a:solidFill>
            <a:prstDash val="solid"/>
          </a:ln>
        </p:spPr>
      </p:sp>
      <p:sp>
        <p:nvSpPr>
          <p:cNvPr id="24" name="Text 22"/>
          <p:cNvSpPr/>
          <p:nvPr/>
        </p:nvSpPr>
        <p:spPr>
          <a:xfrm>
            <a:off x="548640" y="3886200"/>
            <a:ext cx="3749040" cy="685800"/>
          </a:xfrm>
          <a:prstGeom prst="rect">
            <a:avLst/>
          </a:prstGeom>
          <a:noFill/>
          <a:ln/>
        </p:spPr>
        <p:txBody>
          <a:bodyPr wrap="square" lIns="0" tIns="0" rIns="0" bIns="0" rtlCol="0" anchor="ctr"/>
          <a:lstStyle/>
          <a:p>
            <a:pPr indent="0" marL="0">
              <a:buNone/>
            </a:pPr>
            <a:r>
              <a:rPr lang="en-US" sz="900" dirty="0">
                <a:solidFill>
                  <a:srgbClr val="8FA3B4"/>
                </a:solidFill>
                <a:latin typeface="Calibri" pitchFamily="34" charset="0"/>
                <a:ea typeface="Calibri" pitchFamily="34" charset="-122"/>
                <a:cs typeface="Calibri" pitchFamily="34" charset="-120"/>
              </a:rPr>
              <a:t>Startup airlines, regulatory support</a:t>
            </a:r>
            <a:endParaRPr lang="en-US" sz="900" dirty="0"/>
          </a:p>
        </p:txBody>
      </p:sp>
      <p:sp>
        <p:nvSpPr>
          <p:cNvPr id="25" name="Shape 23"/>
          <p:cNvSpPr/>
          <p:nvPr/>
        </p:nvSpPr>
        <p:spPr>
          <a:xfrm>
            <a:off x="4663440" y="3108960"/>
            <a:ext cx="4023360" cy="1600200"/>
          </a:xfrm>
          <a:prstGeom prst="rect">
            <a:avLst/>
          </a:prstGeom>
          <a:solidFill>
            <a:srgbClr val="0A1628"/>
          </a:solidFill>
          <a:ln w="12700">
            <a:solidFill>
              <a:srgbClr val="0A1628"/>
            </a:solidFill>
            <a:prstDash val="solid"/>
          </a:ln>
          <a:effectLst>
            <a:outerShdw sx="100000" sy="100000" kx="0" ky="0" algn="bl" rotWithShape="0" blurRad="127000" dist="38100" dir="8100000">
              <a:srgbClr val="000000">
                <a:alpha val="15000"/>
              </a:srgbClr>
            </a:outerShdw>
          </a:effectLst>
        </p:spPr>
      </p:sp>
      <p:sp>
        <p:nvSpPr>
          <p:cNvPr id="26" name="Shape 24"/>
          <p:cNvSpPr/>
          <p:nvPr/>
        </p:nvSpPr>
        <p:spPr>
          <a:xfrm>
            <a:off x="4663440" y="3108960"/>
            <a:ext cx="54864" cy="1600200"/>
          </a:xfrm>
          <a:prstGeom prst="rect">
            <a:avLst/>
          </a:prstGeom>
          <a:solidFill>
            <a:srgbClr val="C9A84C"/>
          </a:solidFill>
          <a:ln w="12700">
            <a:solidFill>
              <a:srgbClr val="C9A84C"/>
            </a:solidFill>
            <a:prstDash val="solid"/>
          </a:ln>
        </p:spPr>
      </p:sp>
      <p:sp>
        <p:nvSpPr>
          <p:cNvPr id="27" name="Text 25"/>
          <p:cNvSpPr/>
          <p:nvPr/>
        </p:nvSpPr>
        <p:spPr>
          <a:xfrm>
            <a:off x="4846320" y="3218688"/>
            <a:ext cx="374904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Europe</a:t>
            </a:r>
            <a:endParaRPr lang="en-US" sz="1200" dirty="0"/>
          </a:p>
        </p:txBody>
      </p:sp>
      <p:sp>
        <p:nvSpPr>
          <p:cNvPr id="28" name="Text 26"/>
          <p:cNvSpPr/>
          <p:nvPr/>
        </p:nvSpPr>
        <p:spPr>
          <a:xfrm>
            <a:off x="4846320" y="3538728"/>
            <a:ext cx="3749040" cy="274320"/>
          </a:xfrm>
          <a:prstGeom prst="rect">
            <a:avLst/>
          </a:prstGeom>
          <a:noFill/>
          <a:ln/>
        </p:spPr>
        <p:txBody>
          <a:bodyPr wrap="square" lIns="0" tIns="0" rIns="0" bIns="0" rtlCol="0" anchor="ctr"/>
          <a:lstStyle/>
          <a:p>
            <a:pPr indent="0" marL="0">
              <a:buNone/>
            </a:pPr>
            <a:r>
              <a:rPr lang="en-US" sz="900" dirty="0">
                <a:solidFill>
                  <a:srgbClr val="C9A84C"/>
                </a:solidFill>
                <a:latin typeface="Calibri" pitchFamily="34" charset="0"/>
                <a:ea typeface="Calibri" pitchFamily="34" charset="-122"/>
                <a:cs typeface="Calibri" pitchFamily="34" charset="-120"/>
              </a:rPr>
              <a:t>Netherlands, Belgium, Eastern EU</a:t>
            </a:r>
            <a:endParaRPr lang="en-US" sz="900" dirty="0"/>
          </a:p>
        </p:txBody>
      </p:sp>
      <p:sp>
        <p:nvSpPr>
          <p:cNvPr id="29" name="Shape 27"/>
          <p:cNvSpPr/>
          <p:nvPr/>
        </p:nvSpPr>
        <p:spPr>
          <a:xfrm>
            <a:off x="4846320" y="3813048"/>
            <a:ext cx="3657600" cy="0"/>
          </a:xfrm>
          <a:prstGeom prst="line">
            <a:avLst/>
          </a:prstGeom>
          <a:noFill/>
          <a:ln w="6350">
            <a:solidFill>
              <a:srgbClr val="1A3A5C"/>
            </a:solidFill>
            <a:prstDash val="solid"/>
          </a:ln>
        </p:spPr>
      </p:sp>
      <p:sp>
        <p:nvSpPr>
          <p:cNvPr id="30" name="Text 28"/>
          <p:cNvSpPr/>
          <p:nvPr/>
        </p:nvSpPr>
        <p:spPr>
          <a:xfrm>
            <a:off x="4846320" y="3886200"/>
            <a:ext cx="3749040" cy="685800"/>
          </a:xfrm>
          <a:prstGeom prst="rect">
            <a:avLst/>
          </a:prstGeom>
          <a:noFill/>
          <a:ln/>
        </p:spPr>
        <p:txBody>
          <a:bodyPr wrap="square" lIns="0" tIns="0" rIns="0" bIns="0" rtlCol="0" anchor="ctr"/>
          <a:lstStyle/>
          <a:p>
            <a:pPr indent="0" marL="0">
              <a:buNone/>
            </a:pPr>
            <a:r>
              <a:rPr lang="en-US" sz="900" dirty="0">
                <a:solidFill>
                  <a:srgbClr val="8FA3B4"/>
                </a:solidFill>
                <a:latin typeface="Calibri" pitchFamily="34" charset="0"/>
                <a:ea typeface="Calibri" pitchFamily="34" charset="-122"/>
                <a:cs typeface="Calibri" pitchFamily="34" charset="-120"/>
              </a:rPr>
              <a:t>ACMI, cargo, EU-MENA connectivity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457200" y="228600"/>
            <a:ext cx="8229600" cy="228600"/>
          </a:xfrm>
          <a:prstGeom prst="rect">
            <a:avLst/>
          </a:prstGeom>
          <a:noFill/>
          <a:ln/>
        </p:spPr>
        <p:txBody>
          <a:bodyPr wrap="square" lIns="0" tIns="0" rIns="0" bIns="0" rtlCol="0" anchor="ctr"/>
          <a:lstStyle/>
          <a:p>
            <a:pPr indent="0" marL="0">
              <a:buNone/>
            </a:pPr>
            <a:r>
              <a:rPr lang="en-US" sz="800" b="1" spc="400" kern="0" dirty="0">
                <a:solidFill>
                  <a:srgbClr val="C9A84C"/>
                </a:solidFill>
                <a:latin typeface="Calibri" pitchFamily="34" charset="0"/>
                <a:ea typeface="Calibri" pitchFamily="34" charset="-122"/>
                <a:cs typeface="Calibri" pitchFamily="34" charset="-120"/>
              </a:rPr>
              <a:t>OUR CLIENTS</a:t>
            </a:r>
            <a:endParaRPr lang="en-US" sz="800" dirty="0"/>
          </a:p>
        </p:txBody>
      </p:sp>
      <p:sp>
        <p:nvSpPr>
          <p:cNvPr id="4" name="Text 2"/>
          <p:cNvSpPr/>
          <p:nvPr/>
        </p:nvSpPr>
        <p:spPr>
          <a:xfrm>
            <a:off x="457200" y="41148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Target Client Segments</a:t>
            </a:r>
            <a:endParaRPr lang="en-US" sz="2800" dirty="0"/>
          </a:p>
        </p:txBody>
      </p:sp>
      <p:sp>
        <p:nvSpPr>
          <p:cNvPr id="5" name="Shape 3"/>
          <p:cNvSpPr/>
          <p:nvPr/>
        </p:nvSpPr>
        <p:spPr>
          <a:xfrm>
            <a:off x="457200" y="960120"/>
            <a:ext cx="8229600" cy="0"/>
          </a:xfrm>
          <a:prstGeom prst="line">
            <a:avLst/>
          </a:prstGeom>
          <a:noFill/>
          <a:ln w="19050">
            <a:solidFill>
              <a:srgbClr val="C9A84C"/>
            </a:solidFill>
            <a:prstDash val="solid"/>
          </a:ln>
        </p:spPr>
      </p:sp>
      <p:sp>
        <p:nvSpPr>
          <p:cNvPr id="6" name="Shape 4"/>
          <p:cNvSpPr/>
          <p:nvPr/>
        </p:nvSpPr>
        <p:spPr>
          <a:xfrm>
            <a:off x="365760" y="1097280"/>
            <a:ext cx="2651760" cy="1737360"/>
          </a:xfrm>
          <a:prstGeom prst="rect">
            <a:avLst/>
          </a:prstGeom>
          <a:solidFill>
            <a:srgbClr val="1A6BAD"/>
          </a:solidFill>
          <a:ln w="12700">
            <a:solidFill>
              <a:srgbClr val="1A3A5C"/>
            </a:solidFill>
            <a:prstDash val="solid"/>
          </a:ln>
        </p:spPr>
      </p:sp>
      <p:sp>
        <p:nvSpPr>
          <p:cNvPr id="7" name="Shape 5"/>
          <p:cNvSpPr/>
          <p:nvPr/>
        </p:nvSpPr>
        <p:spPr>
          <a:xfrm>
            <a:off x="365760" y="1097280"/>
            <a:ext cx="2651760" cy="384048"/>
          </a:xfrm>
          <a:prstGeom prst="rect">
            <a:avLst/>
          </a:prstGeom>
          <a:solidFill>
            <a:srgbClr val="1557A0"/>
          </a:solidFill>
          <a:ln w="12700">
            <a:solidFill>
              <a:srgbClr val="1A3A5C"/>
            </a:solidFill>
            <a:prstDash val="solid"/>
          </a:ln>
        </p:spPr>
      </p:sp>
      <p:sp>
        <p:nvSpPr>
          <p:cNvPr id="8" name="Text 6"/>
          <p:cNvSpPr/>
          <p:nvPr/>
        </p:nvSpPr>
        <p:spPr>
          <a:xfrm>
            <a:off x="475488" y="1143000"/>
            <a:ext cx="2468880" cy="32004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Airlines</a:t>
            </a:r>
            <a:endParaRPr lang="en-US" sz="1100" dirty="0"/>
          </a:p>
        </p:txBody>
      </p:sp>
      <p:sp>
        <p:nvSpPr>
          <p:cNvPr id="9" name="Text 7"/>
          <p:cNvSpPr/>
          <p:nvPr/>
        </p:nvSpPr>
        <p:spPr>
          <a:xfrm>
            <a:off x="475488" y="1554480"/>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Startup airlines</a:t>
            </a:r>
            <a:endParaRPr lang="en-US" sz="850" dirty="0"/>
          </a:p>
        </p:txBody>
      </p:sp>
      <p:sp>
        <p:nvSpPr>
          <p:cNvPr id="10" name="Text 8"/>
          <p:cNvSpPr/>
          <p:nvPr/>
        </p:nvSpPr>
        <p:spPr>
          <a:xfrm>
            <a:off x="475488" y="1837944"/>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Cargo airlines</a:t>
            </a:r>
            <a:endParaRPr lang="en-US" sz="850" dirty="0"/>
          </a:p>
        </p:txBody>
      </p:sp>
      <p:sp>
        <p:nvSpPr>
          <p:cNvPr id="11" name="Text 9"/>
          <p:cNvSpPr/>
          <p:nvPr/>
        </p:nvSpPr>
        <p:spPr>
          <a:xfrm>
            <a:off x="475488" y="2121408"/>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Regional airlines</a:t>
            </a:r>
            <a:endParaRPr lang="en-US" sz="850" dirty="0"/>
          </a:p>
        </p:txBody>
      </p:sp>
      <p:sp>
        <p:nvSpPr>
          <p:cNvPr id="12" name="Text 10"/>
          <p:cNvSpPr/>
          <p:nvPr/>
        </p:nvSpPr>
        <p:spPr>
          <a:xfrm>
            <a:off x="475488" y="2404872"/>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ACMI &amp; charter operators</a:t>
            </a:r>
            <a:endParaRPr lang="en-US" sz="850" dirty="0"/>
          </a:p>
        </p:txBody>
      </p:sp>
      <p:sp>
        <p:nvSpPr>
          <p:cNvPr id="13" name="Shape 11"/>
          <p:cNvSpPr/>
          <p:nvPr/>
        </p:nvSpPr>
        <p:spPr>
          <a:xfrm>
            <a:off x="3200400" y="1097280"/>
            <a:ext cx="2651760" cy="1737360"/>
          </a:xfrm>
          <a:prstGeom prst="rect">
            <a:avLst/>
          </a:prstGeom>
          <a:solidFill>
            <a:srgbClr val="0D2137"/>
          </a:solidFill>
          <a:ln w="12700">
            <a:solidFill>
              <a:srgbClr val="1A3A5C"/>
            </a:solidFill>
            <a:prstDash val="solid"/>
          </a:ln>
        </p:spPr>
      </p:sp>
      <p:sp>
        <p:nvSpPr>
          <p:cNvPr id="14" name="Shape 12"/>
          <p:cNvSpPr/>
          <p:nvPr/>
        </p:nvSpPr>
        <p:spPr>
          <a:xfrm>
            <a:off x="3200400" y="1097280"/>
            <a:ext cx="2651760" cy="384048"/>
          </a:xfrm>
          <a:prstGeom prst="rect">
            <a:avLst/>
          </a:prstGeom>
          <a:solidFill>
            <a:srgbClr val="0A1E30"/>
          </a:solidFill>
          <a:ln w="12700">
            <a:solidFill>
              <a:srgbClr val="1A3A5C"/>
            </a:solidFill>
            <a:prstDash val="solid"/>
          </a:ln>
        </p:spPr>
      </p:sp>
      <p:sp>
        <p:nvSpPr>
          <p:cNvPr id="15" name="Text 13"/>
          <p:cNvSpPr/>
          <p:nvPr/>
        </p:nvSpPr>
        <p:spPr>
          <a:xfrm>
            <a:off x="3310128" y="1143000"/>
            <a:ext cx="2468880" cy="32004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Investors</a:t>
            </a:r>
            <a:endParaRPr lang="en-US" sz="1100" dirty="0"/>
          </a:p>
        </p:txBody>
      </p:sp>
      <p:sp>
        <p:nvSpPr>
          <p:cNvPr id="16" name="Text 14"/>
          <p:cNvSpPr/>
          <p:nvPr/>
        </p:nvSpPr>
        <p:spPr>
          <a:xfrm>
            <a:off x="3310128" y="1554480"/>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Aviation investors</a:t>
            </a:r>
            <a:endParaRPr lang="en-US" sz="850" dirty="0"/>
          </a:p>
        </p:txBody>
      </p:sp>
      <p:sp>
        <p:nvSpPr>
          <p:cNvPr id="17" name="Text 15"/>
          <p:cNvSpPr/>
          <p:nvPr/>
        </p:nvSpPr>
        <p:spPr>
          <a:xfrm>
            <a:off x="3310128" y="1837944"/>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Family offices</a:t>
            </a:r>
            <a:endParaRPr lang="en-US" sz="850" dirty="0"/>
          </a:p>
        </p:txBody>
      </p:sp>
      <p:sp>
        <p:nvSpPr>
          <p:cNvPr id="18" name="Text 16"/>
          <p:cNvSpPr/>
          <p:nvPr/>
        </p:nvSpPr>
        <p:spPr>
          <a:xfrm>
            <a:off x="3310128" y="2121408"/>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Govt-backed investment groups</a:t>
            </a:r>
            <a:endParaRPr lang="en-US" sz="850" dirty="0"/>
          </a:p>
        </p:txBody>
      </p:sp>
      <p:sp>
        <p:nvSpPr>
          <p:cNvPr id="19" name="Text 17"/>
          <p:cNvSpPr/>
          <p:nvPr/>
        </p:nvSpPr>
        <p:spPr>
          <a:xfrm>
            <a:off x="3310128" y="2404872"/>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Infrastructure investors</a:t>
            </a:r>
            <a:endParaRPr lang="en-US" sz="850" dirty="0"/>
          </a:p>
        </p:txBody>
      </p:sp>
      <p:sp>
        <p:nvSpPr>
          <p:cNvPr id="20" name="Shape 18"/>
          <p:cNvSpPr/>
          <p:nvPr/>
        </p:nvSpPr>
        <p:spPr>
          <a:xfrm>
            <a:off x="6035040" y="1097280"/>
            <a:ext cx="2651760" cy="1737360"/>
          </a:xfrm>
          <a:prstGeom prst="rect">
            <a:avLst/>
          </a:prstGeom>
          <a:solidFill>
            <a:srgbClr val="1A6BAD"/>
          </a:solidFill>
          <a:ln w="12700">
            <a:solidFill>
              <a:srgbClr val="1A3A5C"/>
            </a:solidFill>
            <a:prstDash val="solid"/>
          </a:ln>
        </p:spPr>
      </p:sp>
      <p:sp>
        <p:nvSpPr>
          <p:cNvPr id="21" name="Shape 19"/>
          <p:cNvSpPr/>
          <p:nvPr/>
        </p:nvSpPr>
        <p:spPr>
          <a:xfrm>
            <a:off x="6035040" y="1097280"/>
            <a:ext cx="2651760" cy="384048"/>
          </a:xfrm>
          <a:prstGeom prst="rect">
            <a:avLst/>
          </a:prstGeom>
          <a:solidFill>
            <a:srgbClr val="1557A0"/>
          </a:solidFill>
          <a:ln w="12700">
            <a:solidFill>
              <a:srgbClr val="1A3A5C"/>
            </a:solidFill>
            <a:prstDash val="solid"/>
          </a:ln>
        </p:spPr>
      </p:sp>
      <p:sp>
        <p:nvSpPr>
          <p:cNvPr id="22" name="Text 20"/>
          <p:cNvSpPr/>
          <p:nvPr/>
        </p:nvSpPr>
        <p:spPr>
          <a:xfrm>
            <a:off x="6144768" y="1143000"/>
            <a:ext cx="2468880" cy="32004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Governments</a:t>
            </a:r>
            <a:endParaRPr lang="en-US" sz="1100" dirty="0"/>
          </a:p>
          <a:p>
            <a:pPr indent="0" marL="0">
              <a:buNone/>
            </a:pPr>
            <a:r>
              <a:rPr lang="en-US" sz="1100" b="1" dirty="0">
                <a:solidFill>
                  <a:srgbClr val="C9A84C"/>
                </a:solidFill>
                <a:latin typeface="Calibri" pitchFamily="34" charset="0"/>
                <a:ea typeface="Calibri" pitchFamily="34" charset="-122"/>
                <a:cs typeface="Calibri" pitchFamily="34" charset="-120"/>
              </a:rPr>
              <a:t>&amp; Authorities</a:t>
            </a:r>
            <a:endParaRPr lang="en-US" sz="1100" dirty="0"/>
          </a:p>
        </p:txBody>
      </p:sp>
      <p:sp>
        <p:nvSpPr>
          <p:cNvPr id="23" name="Text 21"/>
          <p:cNvSpPr/>
          <p:nvPr/>
        </p:nvSpPr>
        <p:spPr>
          <a:xfrm>
            <a:off x="6144768" y="1554480"/>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Civil Aviation Authorities</a:t>
            </a:r>
            <a:endParaRPr lang="en-US" sz="850" dirty="0"/>
          </a:p>
        </p:txBody>
      </p:sp>
      <p:sp>
        <p:nvSpPr>
          <p:cNvPr id="24" name="Text 22"/>
          <p:cNvSpPr/>
          <p:nvPr/>
        </p:nvSpPr>
        <p:spPr>
          <a:xfrm>
            <a:off x="6144768" y="1837944"/>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Airport authorities</a:t>
            </a:r>
            <a:endParaRPr lang="en-US" sz="850" dirty="0"/>
          </a:p>
        </p:txBody>
      </p:sp>
      <p:sp>
        <p:nvSpPr>
          <p:cNvPr id="25" name="Text 23"/>
          <p:cNvSpPr/>
          <p:nvPr/>
        </p:nvSpPr>
        <p:spPr>
          <a:xfrm>
            <a:off x="6144768" y="2121408"/>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Ministries of Transport</a:t>
            </a:r>
            <a:endParaRPr lang="en-US" sz="850" dirty="0"/>
          </a:p>
        </p:txBody>
      </p:sp>
      <p:sp>
        <p:nvSpPr>
          <p:cNvPr id="26" name="Shape 24"/>
          <p:cNvSpPr/>
          <p:nvPr/>
        </p:nvSpPr>
        <p:spPr>
          <a:xfrm>
            <a:off x="365760" y="3017520"/>
            <a:ext cx="2651760" cy="1737360"/>
          </a:xfrm>
          <a:prstGeom prst="rect">
            <a:avLst/>
          </a:prstGeom>
          <a:solidFill>
            <a:srgbClr val="0D2137"/>
          </a:solidFill>
          <a:ln w="12700">
            <a:solidFill>
              <a:srgbClr val="1A3A5C"/>
            </a:solidFill>
            <a:prstDash val="solid"/>
          </a:ln>
        </p:spPr>
      </p:sp>
      <p:sp>
        <p:nvSpPr>
          <p:cNvPr id="27" name="Shape 25"/>
          <p:cNvSpPr/>
          <p:nvPr/>
        </p:nvSpPr>
        <p:spPr>
          <a:xfrm>
            <a:off x="365760" y="3017520"/>
            <a:ext cx="2651760" cy="384048"/>
          </a:xfrm>
          <a:prstGeom prst="rect">
            <a:avLst/>
          </a:prstGeom>
          <a:solidFill>
            <a:srgbClr val="0A1E30"/>
          </a:solidFill>
          <a:ln w="12700">
            <a:solidFill>
              <a:srgbClr val="1A3A5C"/>
            </a:solidFill>
            <a:prstDash val="solid"/>
          </a:ln>
        </p:spPr>
      </p:sp>
      <p:sp>
        <p:nvSpPr>
          <p:cNvPr id="28" name="Text 26"/>
          <p:cNvSpPr/>
          <p:nvPr/>
        </p:nvSpPr>
        <p:spPr>
          <a:xfrm>
            <a:off x="475488" y="3063240"/>
            <a:ext cx="2468880" cy="32004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Freight &amp;</a:t>
            </a:r>
            <a:endParaRPr lang="en-US" sz="1100" dirty="0"/>
          </a:p>
          <a:p>
            <a:pPr indent="0" marL="0">
              <a:buNone/>
            </a:pPr>
            <a:r>
              <a:rPr lang="en-US" sz="1100" b="1" dirty="0">
                <a:solidFill>
                  <a:srgbClr val="C9A84C"/>
                </a:solidFill>
                <a:latin typeface="Calibri" pitchFamily="34" charset="0"/>
                <a:ea typeface="Calibri" pitchFamily="34" charset="-122"/>
                <a:cs typeface="Calibri" pitchFamily="34" charset="-120"/>
              </a:rPr>
              <a:t>Logistics</a:t>
            </a:r>
            <a:endParaRPr lang="en-US" sz="1100" dirty="0"/>
          </a:p>
        </p:txBody>
      </p:sp>
      <p:sp>
        <p:nvSpPr>
          <p:cNvPr id="29" name="Text 27"/>
          <p:cNvSpPr/>
          <p:nvPr/>
        </p:nvSpPr>
        <p:spPr>
          <a:xfrm>
            <a:off x="475488" y="3474720"/>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Freight forwarders</a:t>
            </a:r>
            <a:endParaRPr lang="en-US" sz="850" dirty="0"/>
          </a:p>
        </p:txBody>
      </p:sp>
      <p:sp>
        <p:nvSpPr>
          <p:cNvPr id="30" name="Text 28"/>
          <p:cNvSpPr/>
          <p:nvPr/>
        </p:nvSpPr>
        <p:spPr>
          <a:xfrm>
            <a:off x="475488" y="3758184"/>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Integrators</a:t>
            </a:r>
            <a:endParaRPr lang="en-US" sz="850" dirty="0"/>
          </a:p>
        </p:txBody>
      </p:sp>
      <p:sp>
        <p:nvSpPr>
          <p:cNvPr id="31" name="Text 29"/>
          <p:cNvSpPr/>
          <p:nvPr/>
        </p:nvSpPr>
        <p:spPr>
          <a:xfrm>
            <a:off x="475488" y="4041648"/>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Cargo brokers</a:t>
            </a:r>
            <a:endParaRPr lang="en-US" sz="850" dirty="0"/>
          </a:p>
        </p:txBody>
      </p:sp>
      <p:sp>
        <p:nvSpPr>
          <p:cNvPr id="32" name="Text 30"/>
          <p:cNvSpPr/>
          <p:nvPr/>
        </p:nvSpPr>
        <p:spPr>
          <a:xfrm>
            <a:off x="475488" y="4325112"/>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E-commerce logistics</a:t>
            </a:r>
            <a:endParaRPr lang="en-US" sz="850" dirty="0"/>
          </a:p>
        </p:txBody>
      </p:sp>
      <p:sp>
        <p:nvSpPr>
          <p:cNvPr id="33" name="Shape 31"/>
          <p:cNvSpPr/>
          <p:nvPr/>
        </p:nvSpPr>
        <p:spPr>
          <a:xfrm>
            <a:off x="3200400" y="3017520"/>
            <a:ext cx="2651760" cy="1737360"/>
          </a:xfrm>
          <a:prstGeom prst="rect">
            <a:avLst/>
          </a:prstGeom>
          <a:solidFill>
            <a:srgbClr val="1A6BAD"/>
          </a:solidFill>
          <a:ln w="12700">
            <a:solidFill>
              <a:srgbClr val="1A3A5C"/>
            </a:solidFill>
            <a:prstDash val="solid"/>
          </a:ln>
        </p:spPr>
      </p:sp>
      <p:sp>
        <p:nvSpPr>
          <p:cNvPr id="34" name="Shape 32"/>
          <p:cNvSpPr/>
          <p:nvPr/>
        </p:nvSpPr>
        <p:spPr>
          <a:xfrm>
            <a:off x="3200400" y="3017520"/>
            <a:ext cx="2651760" cy="384048"/>
          </a:xfrm>
          <a:prstGeom prst="rect">
            <a:avLst/>
          </a:prstGeom>
          <a:solidFill>
            <a:srgbClr val="1557A0"/>
          </a:solidFill>
          <a:ln w="12700">
            <a:solidFill>
              <a:srgbClr val="1A3A5C"/>
            </a:solidFill>
            <a:prstDash val="solid"/>
          </a:ln>
        </p:spPr>
      </p:sp>
      <p:sp>
        <p:nvSpPr>
          <p:cNvPr id="35" name="Text 33"/>
          <p:cNvSpPr/>
          <p:nvPr/>
        </p:nvSpPr>
        <p:spPr>
          <a:xfrm>
            <a:off x="3310128" y="3063240"/>
            <a:ext cx="2468880" cy="32004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Airports</a:t>
            </a:r>
            <a:endParaRPr lang="en-US" sz="1100" dirty="0"/>
          </a:p>
        </p:txBody>
      </p:sp>
      <p:sp>
        <p:nvSpPr>
          <p:cNvPr id="36" name="Text 34"/>
          <p:cNvSpPr/>
          <p:nvPr/>
        </p:nvSpPr>
        <p:spPr>
          <a:xfrm>
            <a:off x="3310128" y="3474720"/>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Secondary airports</a:t>
            </a:r>
            <a:endParaRPr lang="en-US" sz="850" dirty="0"/>
          </a:p>
        </p:txBody>
      </p:sp>
      <p:sp>
        <p:nvSpPr>
          <p:cNvPr id="37" name="Text 35"/>
          <p:cNvSpPr/>
          <p:nvPr/>
        </p:nvSpPr>
        <p:spPr>
          <a:xfrm>
            <a:off x="3310128" y="3758184"/>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Cargo airports</a:t>
            </a:r>
            <a:endParaRPr lang="en-US" sz="850" dirty="0"/>
          </a:p>
        </p:txBody>
      </p:sp>
      <p:sp>
        <p:nvSpPr>
          <p:cNvPr id="38" name="Text 36"/>
          <p:cNvSpPr/>
          <p:nvPr/>
        </p:nvSpPr>
        <p:spPr>
          <a:xfrm>
            <a:off x="3310128" y="4041648"/>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Emerging airport projects</a:t>
            </a:r>
            <a:endParaRPr lang="en-US" sz="850" dirty="0"/>
          </a:p>
        </p:txBody>
      </p:sp>
      <p:sp>
        <p:nvSpPr>
          <p:cNvPr id="39" name="Shape 37"/>
          <p:cNvSpPr/>
          <p:nvPr/>
        </p:nvSpPr>
        <p:spPr>
          <a:xfrm>
            <a:off x="6035040" y="3017520"/>
            <a:ext cx="2651760" cy="1737360"/>
          </a:xfrm>
          <a:prstGeom prst="rect">
            <a:avLst/>
          </a:prstGeom>
          <a:solidFill>
            <a:srgbClr val="0D2137"/>
          </a:solidFill>
          <a:ln w="12700">
            <a:solidFill>
              <a:srgbClr val="1A3A5C"/>
            </a:solidFill>
            <a:prstDash val="solid"/>
          </a:ln>
        </p:spPr>
      </p:sp>
      <p:sp>
        <p:nvSpPr>
          <p:cNvPr id="40" name="Shape 38"/>
          <p:cNvSpPr/>
          <p:nvPr/>
        </p:nvSpPr>
        <p:spPr>
          <a:xfrm>
            <a:off x="6035040" y="3017520"/>
            <a:ext cx="2651760" cy="384048"/>
          </a:xfrm>
          <a:prstGeom prst="rect">
            <a:avLst/>
          </a:prstGeom>
          <a:solidFill>
            <a:srgbClr val="0A1E30"/>
          </a:solidFill>
          <a:ln w="12700">
            <a:solidFill>
              <a:srgbClr val="1A3A5C"/>
            </a:solidFill>
            <a:prstDash val="solid"/>
          </a:ln>
        </p:spPr>
      </p:sp>
      <p:sp>
        <p:nvSpPr>
          <p:cNvPr id="41" name="Text 39"/>
          <p:cNvSpPr/>
          <p:nvPr/>
        </p:nvSpPr>
        <p:spPr>
          <a:xfrm>
            <a:off x="6144768" y="3063240"/>
            <a:ext cx="2468880" cy="32004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Aviation</a:t>
            </a:r>
            <a:endParaRPr lang="en-US" sz="1100" dirty="0"/>
          </a:p>
          <a:p>
            <a:pPr indent="0" marL="0">
              <a:buNone/>
            </a:pPr>
            <a:r>
              <a:rPr lang="en-US" sz="1100" b="1" dirty="0">
                <a:solidFill>
                  <a:srgbClr val="C9A84C"/>
                </a:solidFill>
                <a:latin typeface="Calibri" pitchFamily="34" charset="0"/>
                <a:ea typeface="Calibri" pitchFamily="34" charset="-122"/>
                <a:cs typeface="Calibri" pitchFamily="34" charset="-120"/>
              </a:rPr>
              <a:t>Providers</a:t>
            </a:r>
            <a:endParaRPr lang="en-US" sz="1100" dirty="0"/>
          </a:p>
        </p:txBody>
      </p:sp>
      <p:sp>
        <p:nvSpPr>
          <p:cNvPr id="42" name="Text 40"/>
          <p:cNvSpPr/>
          <p:nvPr/>
        </p:nvSpPr>
        <p:spPr>
          <a:xfrm>
            <a:off x="6144768" y="3474720"/>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Ground handlers</a:t>
            </a:r>
            <a:endParaRPr lang="en-US" sz="850" dirty="0"/>
          </a:p>
        </p:txBody>
      </p:sp>
      <p:sp>
        <p:nvSpPr>
          <p:cNvPr id="43" name="Text 41"/>
          <p:cNvSpPr/>
          <p:nvPr/>
        </p:nvSpPr>
        <p:spPr>
          <a:xfrm>
            <a:off x="6144768" y="3758184"/>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MRO companies</a:t>
            </a:r>
            <a:endParaRPr lang="en-US" sz="850" dirty="0"/>
          </a:p>
        </p:txBody>
      </p:sp>
      <p:sp>
        <p:nvSpPr>
          <p:cNvPr id="44" name="Text 42"/>
          <p:cNvSpPr/>
          <p:nvPr/>
        </p:nvSpPr>
        <p:spPr>
          <a:xfrm>
            <a:off x="6144768" y="4041648"/>
            <a:ext cx="2468880" cy="256032"/>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Catering operators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64592" cy="5148072"/>
          </a:xfrm>
          <a:prstGeom prst="rect">
            <a:avLst/>
          </a:prstGeom>
          <a:solidFill>
            <a:srgbClr val="0A1628"/>
          </a:solidFill>
          <a:ln w="12700">
            <a:solidFill>
              <a:srgbClr val="0A1628"/>
            </a:solidFill>
            <a:prstDash val="solid"/>
          </a:ln>
        </p:spPr>
      </p:sp>
      <p:sp>
        <p:nvSpPr>
          <p:cNvPr id="3" name="Shape 1"/>
          <p:cNvSpPr/>
          <p:nvPr/>
        </p:nvSpPr>
        <p:spPr>
          <a:xfrm>
            <a:off x="164592" y="0"/>
            <a:ext cx="45720" cy="5148072"/>
          </a:xfrm>
          <a:prstGeom prst="rect">
            <a:avLst/>
          </a:prstGeom>
          <a:solidFill>
            <a:srgbClr val="C9A84C"/>
          </a:solidFill>
          <a:ln w="12700">
            <a:solidFill>
              <a:srgbClr val="C9A84C"/>
            </a:solidFill>
            <a:prstDash val="solid"/>
          </a:ln>
        </p:spPr>
      </p:sp>
      <p:sp>
        <p:nvSpPr>
          <p:cNvPr id="4" name="Text 2"/>
          <p:cNvSpPr/>
          <p:nvPr/>
        </p:nvSpPr>
        <p:spPr>
          <a:xfrm>
            <a:off x="365760" y="320040"/>
            <a:ext cx="8503920" cy="274320"/>
          </a:xfrm>
          <a:prstGeom prst="rect">
            <a:avLst/>
          </a:prstGeom>
          <a:noFill/>
          <a:ln/>
        </p:spPr>
        <p:txBody>
          <a:bodyPr wrap="square" lIns="0" tIns="0" rIns="0" bIns="0" rtlCol="0" anchor="ctr"/>
          <a:lstStyle/>
          <a:p>
            <a:pPr indent="0" marL="0">
              <a:buNone/>
            </a:pPr>
            <a:r>
              <a:rPr lang="en-US" sz="800" b="1" spc="400" kern="0" dirty="0">
                <a:solidFill>
                  <a:srgbClr val="C9A84C"/>
                </a:solidFill>
                <a:latin typeface="Calibri" pitchFamily="34" charset="0"/>
                <a:ea typeface="Calibri" pitchFamily="34" charset="-122"/>
                <a:cs typeface="Calibri" pitchFamily="34" charset="-120"/>
              </a:rPr>
              <a:t>REVENUE MODEL</a:t>
            </a:r>
            <a:endParaRPr lang="en-US" sz="800" dirty="0"/>
          </a:p>
        </p:txBody>
      </p:sp>
      <p:sp>
        <p:nvSpPr>
          <p:cNvPr id="5" name="Text 3"/>
          <p:cNvSpPr/>
          <p:nvPr/>
        </p:nvSpPr>
        <p:spPr>
          <a:xfrm>
            <a:off x="365760" y="548640"/>
            <a:ext cx="8503920" cy="548640"/>
          </a:xfrm>
          <a:prstGeom prst="rect">
            <a:avLst/>
          </a:prstGeom>
          <a:noFill/>
          <a:ln/>
        </p:spPr>
        <p:txBody>
          <a:bodyPr wrap="square" lIns="0" tIns="0" rIns="0" bIns="0"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Services &amp; Fee Ranges</a:t>
            </a:r>
            <a:endParaRPr lang="en-US" sz="2800" dirty="0"/>
          </a:p>
        </p:txBody>
      </p:sp>
      <p:sp>
        <p:nvSpPr>
          <p:cNvPr id="6" name="Shape 4"/>
          <p:cNvSpPr/>
          <p:nvPr/>
        </p:nvSpPr>
        <p:spPr>
          <a:xfrm>
            <a:off x="365760" y="1143000"/>
            <a:ext cx="8412480" cy="0"/>
          </a:xfrm>
          <a:prstGeom prst="line">
            <a:avLst/>
          </a:prstGeom>
          <a:noFill/>
          <a:ln w="19050">
            <a:solidFill>
              <a:srgbClr val="C9A84C"/>
            </a:solidFill>
            <a:prstDash val="solid"/>
          </a:ln>
        </p:spPr>
      </p:sp>
      <p:sp>
        <p:nvSpPr>
          <p:cNvPr id="7" name="Shape 5"/>
          <p:cNvSpPr/>
          <p:nvPr/>
        </p:nvSpPr>
        <p:spPr>
          <a:xfrm>
            <a:off x="365760" y="1261872"/>
            <a:ext cx="8412480" cy="347472"/>
          </a:xfrm>
          <a:prstGeom prst="rect">
            <a:avLst/>
          </a:prstGeom>
          <a:solidFill>
            <a:srgbClr val="0A1628"/>
          </a:solidFill>
          <a:ln w="12700">
            <a:solidFill>
              <a:srgbClr val="0A1628"/>
            </a:solidFill>
            <a:prstDash val="solid"/>
          </a:ln>
        </p:spPr>
      </p:sp>
      <p:sp>
        <p:nvSpPr>
          <p:cNvPr id="8" name="Text 6"/>
          <p:cNvSpPr/>
          <p:nvPr/>
        </p:nvSpPr>
        <p:spPr>
          <a:xfrm>
            <a:off x="457200" y="1298448"/>
            <a:ext cx="411480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p>
        </p:txBody>
      </p:sp>
      <p:sp>
        <p:nvSpPr>
          <p:cNvPr id="9" name="Text 7"/>
          <p:cNvSpPr/>
          <p:nvPr/>
        </p:nvSpPr>
        <p:spPr>
          <a:xfrm>
            <a:off x="4572000" y="1298448"/>
            <a:ext cx="201168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Revenue Model</a:t>
            </a:r>
            <a:endParaRPr lang="en-US" sz="900" dirty="0"/>
          </a:p>
        </p:txBody>
      </p:sp>
      <p:sp>
        <p:nvSpPr>
          <p:cNvPr id="10" name="Text 8"/>
          <p:cNvSpPr/>
          <p:nvPr/>
        </p:nvSpPr>
        <p:spPr>
          <a:xfrm>
            <a:off x="6583680" y="1298448"/>
            <a:ext cx="201168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Fee Range</a:t>
            </a:r>
            <a:endParaRPr lang="en-US" sz="900" dirty="0"/>
          </a:p>
        </p:txBody>
      </p:sp>
      <p:sp>
        <p:nvSpPr>
          <p:cNvPr id="11" name="Shape 9"/>
          <p:cNvSpPr/>
          <p:nvPr/>
        </p:nvSpPr>
        <p:spPr>
          <a:xfrm>
            <a:off x="365760" y="1609344"/>
            <a:ext cx="8412480" cy="365760"/>
          </a:xfrm>
          <a:prstGeom prst="rect">
            <a:avLst/>
          </a:prstGeom>
          <a:solidFill>
            <a:srgbClr val="FFFFFF"/>
          </a:solidFill>
          <a:ln w="3810">
            <a:solidFill>
              <a:srgbClr val="E8EDF3"/>
            </a:solidFill>
            <a:prstDash val="solid"/>
          </a:ln>
        </p:spPr>
      </p:sp>
      <p:sp>
        <p:nvSpPr>
          <p:cNvPr id="12" name="Text 10"/>
          <p:cNvSpPr/>
          <p:nvPr/>
        </p:nvSpPr>
        <p:spPr>
          <a:xfrm>
            <a:off x="457200" y="1655064"/>
            <a:ext cx="406908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AOC Setup &amp; Airline Certification</a:t>
            </a:r>
            <a:endParaRPr lang="en-US" sz="850" dirty="0"/>
          </a:p>
        </p:txBody>
      </p:sp>
      <p:sp>
        <p:nvSpPr>
          <p:cNvPr id="13" name="Text 11"/>
          <p:cNvSpPr/>
          <p:nvPr/>
        </p:nvSpPr>
        <p:spPr>
          <a:xfrm>
            <a:off x="4572000" y="1655064"/>
            <a:ext cx="196596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Fixed project fee</a:t>
            </a:r>
            <a:endParaRPr lang="en-US" sz="850" dirty="0"/>
          </a:p>
        </p:txBody>
      </p:sp>
      <p:sp>
        <p:nvSpPr>
          <p:cNvPr id="14" name="Text 12"/>
          <p:cNvSpPr/>
          <p:nvPr/>
        </p:nvSpPr>
        <p:spPr>
          <a:xfrm>
            <a:off x="6583680" y="1655064"/>
            <a:ext cx="2103120" cy="274320"/>
          </a:xfrm>
          <a:prstGeom prst="rect">
            <a:avLst/>
          </a:prstGeom>
          <a:noFill/>
          <a:ln/>
        </p:spPr>
        <p:txBody>
          <a:bodyPr wrap="square" lIns="0" tIns="0" rIns="0" bIns="0" rtlCol="0" anchor="ctr"/>
          <a:lstStyle/>
          <a:p>
            <a:pPr indent="0" marL="0">
              <a:buNone/>
            </a:pPr>
            <a:r>
              <a:rPr lang="en-US" sz="850" b="1" dirty="0">
                <a:solidFill>
                  <a:srgbClr val="1A6BAD"/>
                </a:solidFill>
                <a:latin typeface="Calibri" pitchFamily="34" charset="0"/>
                <a:ea typeface="Calibri" pitchFamily="34" charset="-122"/>
                <a:cs typeface="Calibri" pitchFamily="34" charset="-120"/>
              </a:rPr>
              <a:t>USD 150K – 750K</a:t>
            </a:r>
            <a:endParaRPr lang="en-US" sz="850" dirty="0"/>
          </a:p>
        </p:txBody>
      </p:sp>
      <p:sp>
        <p:nvSpPr>
          <p:cNvPr id="15" name="Shape 13"/>
          <p:cNvSpPr/>
          <p:nvPr/>
        </p:nvSpPr>
        <p:spPr>
          <a:xfrm>
            <a:off x="365760" y="1993392"/>
            <a:ext cx="8412480" cy="365760"/>
          </a:xfrm>
          <a:prstGeom prst="rect">
            <a:avLst/>
          </a:prstGeom>
          <a:solidFill>
            <a:srgbClr val="F7F9FC"/>
          </a:solidFill>
          <a:ln w="3810">
            <a:solidFill>
              <a:srgbClr val="E8EDF3"/>
            </a:solidFill>
            <a:prstDash val="solid"/>
          </a:ln>
        </p:spPr>
      </p:sp>
      <p:sp>
        <p:nvSpPr>
          <p:cNvPr id="16" name="Text 14"/>
          <p:cNvSpPr/>
          <p:nvPr/>
        </p:nvSpPr>
        <p:spPr>
          <a:xfrm>
            <a:off x="457200" y="2039112"/>
            <a:ext cx="406908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Airline Management</a:t>
            </a:r>
            <a:endParaRPr lang="en-US" sz="850" dirty="0"/>
          </a:p>
        </p:txBody>
      </p:sp>
      <p:sp>
        <p:nvSpPr>
          <p:cNvPr id="17" name="Text 15"/>
          <p:cNvSpPr/>
          <p:nvPr/>
        </p:nvSpPr>
        <p:spPr>
          <a:xfrm>
            <a:off x="4572000" y="2039112"/>
            <a:ext cx="196596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Monthly retainer</a:t>
            </a:r>
            <a:endParaRPr lang="en-US" sz="850" dirty="0"/>
          </a:p>
        </p:txBody>
      </p:sp>
      <p:sp>
        <p:nvSpPr>
          <p:cNvPr id="18" name="Text 16"/>
          <p:cNvSpPr/>
          <p:nvPr/>
        </p:nvSpPr>
        <p:spPr>
          <a:xfrm>
            <a:off x="6583680" y="2039112"/>
            <a:ext cx="2103120" cy="274320"/>
          </a:xfrm>
          <a:prstGeom prst="rect">
            <a:avLst/>
          </a:prstGeom>
          <a:noFill/>
          <a:ln/>
        </p:spPr>
        <p:txBody>
          <a:bodyPr wrap="square" lIns="0" tIns="0" rIns="0" bIns="0" rtlCol="0" anchor="ctr"/>
          <a:lstStyle/>
          <a:p>
            <a:pPr indent="0" marL="0">
              <a:buNone/>
            </a:pPr>
            <a:r>
              <a:rPr lang="en-US" sz="850" b="1" dirty="0">
                <a:solidFill>
                  <a:srgbClr val="1A6BAD"/>
                </a:solidFill>
                <a:latin typeface="Calibri" pitchFamily="34" charset="0"/>
                <a:ea typeface="Calibri" pitchFamily="34" charset="-122"/>
                <a:cs typeface="Calibri" pitchFamily="34" charset="-120"/>
              </a:rPr>
              <a:t>USD 10K – 75K/month</a:t>
            </a:r>
            <a:endParaRPr lang="en-US" sz="850" dirty="0"/>
          </a:p>
        </p:txBody>
      </p:sp>
      <p:sp>
        <p:nvSpPr>
          <p:cNvPr id="19" name="Shape 17"/>
          <p:cNvSpPr/>
          <p:nvPr/>
        </p:nvSpPr>
        <p:spPr>
          <a:xfrm>
            <a:off x="365760" y="2377440"/>
            <a:ext cx="8412480" cy="365760"/>
          </a:xfrm>
          <a:prstGeom prst="rect">
            <a:avLst/>
          </a:prstGeom>
          <a:solidFill>
            <a:srgbClr val="FFFFFF"/>
          </a:solidFill>
          <a:ln w="3810">
            <a:solidFill>
              <a:srgbClr val="E8EDF3"/>
            </a:solidFill>
            <a:prstDash val="solid"/>
          </a:ln>
        </p:spPr>
      </p:sp>
      <p:sp>
        <p:nvSpPr>
          <p:cNvPr id="20" name="Text 18"/>
          <p:cNvSpPr/>
          <p:nvPr/>
        </p:nvSpPr>
        <p:spPr>
          <a:xfrm>
            <a:off x="457200" y="2423160"/>
            <a:ext cx="406908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Cargo Hub Feasibility Study</a:t>
            </a:r>
            <a:endParaRPr lang="en-US" sz="850" dirty="0"/>
          </a:p>
        </p:txBody>
      </p:sp>
      <p:sp>
        <p:nvSpPr>
          <p:cNvPr id="21" name="Text 19"/>
          <p:cNvSpPr/>
          <p:nvPr/>
        </p:nvSpPr>
        <p:spPr>
          <a:xfrm>
            <a:off x="4572000" y="2423160"/>
            <a:ext cx="196596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Project fee</a:t>
            </a:r>
            <a:endParaRPr lang="en-US" sz="850" dirty="0"/>
          </a:p>
        </p:txBody>
      </p:sp>
      <p:sp>
        <p:nvSpPr>
          <p:cNvPr id="22" name="Text 20"/>
          <p:cNvSpPr/>
          <p:nvPr/>
        </p:nvSpPr>
        <p:spPr>
          <a:xfrm>
            <a:off x="6583680" y="2423160"/>
            <a:ext cx="2103120" cy="274320"/>
          </a:xfrm>
          <a:prstGeom prst="rect">
            <a:avLst/>
          </a:prstGeom>
          <a:noFill/>
          <a:ln/>
        </p:spPr>
        <p:txBody>
          <a:bodyPr wrap="square" lIns="0" tIns="0" rIns="0" bIns="0" rtlCol="0" anchor="ctr"/>
          <a:lstStyle/>
          <a:p>
            <a:pPr indent="0" marL="0">
              <a:buNone/>
            </a:pPr>
            <a:r>
              <a:rPr lang="en-US" sz="850" b="1" dirty="0">
                <a:solidFill>
                  <a:srgbClr val="1A6BAD"/>
                </a:solidFill>
                <a:latin typeface="Calibri" pitchFamily="34" charset="0"/>
                <a:ea typeface="Calibri" pitchFamily="34" charset="-122"/>
                <a:cs typeface="Calibri" pitchFamily="34" charset="-120"/>
              </a:rPr>
              <a:t>USD 25K – 150K</a:t>
            </a:r>
            <a:endParaRPr lang="en-US" sz="850" dirty="0"/>
          </a:p>
        </p:txBody>
      </p:sp>
      <p:sp>
        <p:nvSpPr>
          <p:cNvPr id="23" name="Shape 21"/>
          <p:cNvSpPr/>
          <p:nvPr/>
        </p:nvSpPr>
        <p:spPr>
          <a:xfrm>
            <a:off x="365760" y="2761488"/>
            <a:ext cx="8412480" cy="365760"/>
          </a:xfrm>
          <a:prstGeom prst="rect">
            <a:avLst/>
          </a:prstGeom>
          <a:solidFill>
            <a:srgbClr val="F7F9FC"/>
          </a:solidFill>
          <a:ln w="3810">
            <a:solidFill>
              <a:srgbClr val="E8EDF3"/>
            </a:solidFill>
            <a:prstDash val="solid"/>
          </a:ln>
        </p:spPr>
      </p:sp>
      <p:sp>
        <p:nvSpPr>
          <p:cNvPr id="24" name="Text 22"/>
          <p:cNvSpPr/>
          <p:nvPr/>
        </p:nvSpPr>
        <p:spPr>
          <a:xfrm>
            <a:off x="457200" y="2807208"/>
            <a:ext cx="406908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Airline Feasibility Study</a:t>
            </a:r>
            <a:endParaRPr lang="en-US" sz="850" dirty="0"/>
          </a:p>
        </p:txBody>
      </p:sp>
      <p:sp>
        <p:nvSpPr>
          <p:cNvPr id="25" name="Text 23"/>
          <p:cNvSpPr/>
          <p:nvPr/>
        </p:nvSpPr>
        <p:spPr>
          <a:xfrm>
            <a:off x="4572000" y="2807208"/>
            <a:ext cx="196596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Fixed project fee</a:t>
            </a:r>
            <a:endParaRPr lang="en-US" sz="850" dirty="0"/>
          </a:p>
        </p:txBody>
      </p:sp>
      <p:sp>
        <p:nvSpPr>
          <p:cNvPr id="26" name="Text 24"/>
          <p:cNvSpPr/>
          <p:nvPr/>
        </p:nvSpPr>
        <p:spPr>
          <a:xfrm>
            <a:off x="6583680" y="2807208"/>
            <a:ext cx="2103120" cy="274320"/>
          </a:xfrm>
          <a:prstGeom prst="rect">
            <a:avLst/>
          </a:prstGeom>
          <a:noFill/>
          <a:ln/>
        </p:spPr>
        <p:txBody>
          <a:bodyPr wrap="square" lIns="0" tIns="0" rIns="0" bIns="0" rtlCol="0" anchor="ctr"/>
          <a:lstStyle/>
          <a:p>
            <a:pPr indent="0" marL="0">
              <a:buNone/>
            </a:pPr>
            <a:r>
              <a:rPr lang="en-US" sz="850" b="1" dirty="0">
                <a:solidFill>
                  <a:srgbClr val="1A6BAD"/>
                </a:solidFill>
                <a:latin typeface="Calibri" pitchFamily="34" charset="0"/>
                <a:ea typeface="Calibri" pitchFamily="34" charset="-122"/>
                <a:cs typeface="Calibri" pitchFamily="34" charset="-120"/>
              </a:rPr>
              <a:t>USD 20K – 80K</a:t>
            </a:r>
            <a:endParaRPr lang="en-US" sz="850" dirty="0"/>
          </a:p>
        </p:txBody>
      </p:sp>
      <p:sp>
        <p:nvSpPr>
          <p:cNvPr id="27" name="Shape 25"/>
          <p:cNvSpPr/>
          <p:nvPr/>
        </p:nvSpPr>
        <p:spPr>
          <a:xfrm>
            <a:off x="365760" y="3145536"/>
            <a:ext cx="8412480" cy="365760"/>
          </a:xfrm>
          <a:prstGeom prst="rect">
            <a:avLst/>
          </a:prstGeom>
          <a:solidFill>
            <a:srgbClr val="FFFFFF"/>
          </a:solidFill>
          <a:ln w="3810">
            <a:solidFill>
              <a:srgbClr val="E8EDF3"/>
            </a:solidFill>
            <a:prstDash val="solid"/>
          </a:ln>
        </p:spPr>
      </p:sp>
      <p:sp>
        <p:nvSpPr>
          <p:cNvPr id="28" name="Text 26"/>
          <p:cNvSpPr/>
          <p:nvPr/>
        </p:nvSpPr>
        <p:spPr>
          <a:xfrm>
            <a:off x="457200" y="3191256"/>
            <a:ext cx="406908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Investment Advisory</a:t>
            </a:r>
            <a:endParaRPr lang="en-US" sz="850" dirty="0"/>
          </a:p>
        </p:txBody>
      </p:sp>
      <p:sp>
        <p:nvSpPr>
          <p:cNvPr id="29" name="Text 27"/>
          <p:cNvSpPr/>
          <p:nvPr/>
        </p:nvSpPr>
        <p:spPr>
          <a:xfrm>
            <a:off x="4572000" y="3191256"/>
            <a:ext cx="196596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Success fee + consulting</a:t>
            </a:r>
            <a:endParaRPr lang="en-US" sz="850" dirty="0"/>
          </a:p>
        </p:txBody>
      </p:sp>
      <p:sp>
        <p:nvSpPr>
          <p:cNvPr id="30" name="Text 28"/>
          <p:cNvSpPr/>
          <p:nvPr/>
        </p:nvSpPr>
        <p:spPr>
          <a:xfrm>
            <a:off x="6583680" y="3191256"/>
            <a:ext cx="2103120" cy="274320"/>
          </a:xfrm>
          <a:prstGeom prst="rect">
            <a:avLst/>
          </a:prstGeom>
          <a:noFill/>
          <a:ln/>
        </p:spPr>
        <p:txBody>
          <a:bodyPr wrap="square" lIns="0" tIns="0" rIns="0" bIns="0" rtlCol="0" anchor="ctr"/>
          <a:lstStyle/>
          <a:p>
            <a:pPr indent="0" marL="0">
              <a:buNone/>
            </a:pPr>
            <a:r>
              <a:rPr lang="en-US" sz="850" b="1" dirty="0">
                <a:solidFill>
                  <a:srgbClr val="1A6BAD"/>
                </a:solidFill>
                <a:latin typeface="Calibri" pitchFamily="34" charset="0"/>
                <a:ea typeface="Calibri" pitchFamily="34" charset="-122"/>
                <a:cs typeface="Calibri" pitchFamily="34" charset="-120"/>
              </a:rPr>
              <a:t>USD 15K – 100K+</a:t>
            </a:r>
            <a:endParaRPr lang="en-US" sz="850" dirty="0"/>
          </a:p>
        </p:txBody>
      </p:sp>
      <p:sp>
        <p:nvSpPr>
          <p:cNvPr id="31" name="Shape 29"/>
          <p:cNvSpPr/>
          <p:nvPr/>
        </p:nvSpPr>
        <p:spPr>
          <a:xfrm>
            <a:off x="365760" y="3529584"/>
            <a:ext cx="8412480" cy="365760"/>
          </a:xfrm>
          <a:prstGeom prst="rect">
            <a:avLst/>
          </a:prstGeom>
          <a:solidFill>
            <a:srgbClr val="F7F9FC"/>
          </a:solidFill>
          <a:ln w="3810">
            <a:solidFill>
              <a:srgbClr val="E8EDF3"/>
            </a:solidFill>
            <a:prstDash val="solid"/>
          </a:ln>
        </p:spPr>
      </p:sp>
      <p:sp>
        <p:nvSpPr>
          <p:cNvPr id="32" name="Text 30"/>
          <p:cNvSpPr/>
          <p:nvPr/>
        </p:nvSpPr>
        <p:spPr>
          <a:xfrm>
            <a:off x="457200" y="3575304"/>
            <a:ext cx="406908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Ground Handling Setup</a:t>
            </a:r>
            <a:endParaRPr lang="en-US" sz="850" dirty="0"/>
          </a:p>
        </p:txBody>
      </p:sp>
      <p:sp>
        <p:nvSpPr>
          <p:cNvPr id="33" name="Text 31"/>
          <p:cNvSpPr/>
          <p:nvPr/>
        </p:nvSpPr>
        <p:spPr>
          <a:xfrm>
            <a:off x="4572000" y="3575304"/>
            <a:ext cx="196596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Fixed implementation</a:t>
            </a:r>
            <a:endParaRPr lang="en-US" sz="850" dirty="0"/>
          </a:p>
        </p:txBody>
      </p:sp>
      <p:sp>
        <p:nvSpPr>
          <p:cNvPr id="34" name="Text 32"/>
          <p:cNvSpPr/>
          <p:nvPr/>
        </p:nvSpPr>
        <p:spPr>
          <a:xfrm>
            <a:off x="6583680" y="3575304"/>
            <a:ext cx="2103120" cy="274320"/>
          </a:xfrm>
          <a:prstGeom prst="rect">
            <a:avLst/>
          </a:prstGeom>
          <a:noFill/>
          <a:ln/>
        </p:spPr>
        <p:txBody>
          <a:bodyPr wrap="square" lIns="0" tIns="0" rIns="0" bIns="0" rtlCol="0" anchor="ctr"/>
          <a:lstStyle/>
          <a:p>
            <a:pPr indent="0" marL="0">
              <a:buNone/>
            </a:pPr>
            <a:r>
              <a:rPr lang="en-US" sz="850" b="1" dirty="0">
                <a:solidFill>
                  <a:srgbClr val="1A6BAD"/>
                </a:solidFill>
                <a:latin typeface="Calibri" pitchFamily="34" charset="0"/>
                <a:ea typeface="Calibri" pitchFamily="34" charset="-122"/>
                <a:cs typeface="Calibri" pitchFamily="34" charset="-120"/>
              </a:rPr>
              <a:t>USD 10K – 40K</a:t>
            </a:r>
            <a:endParaRPr lang="en-US" sz="850" dirty="0"/>
          </a:p>
        </p:txBody>
      </p:sp>
      <p:sp>
        <p:nvSpPr>
          <p:cNvPr id="35" name="Shape 33"/>
          <p:cNvSpPr/>
          <p:nvPr/>
        </p:nvSpPr>
        <p:spPr>
          <a:xfrm>
            <a:off x="365760" y="3913632"/>
            <a:ext cx="8412480" cy="365760"/>
          </a:xfrm>
          <a:prstGeom prst="rect">
            <a:avLst/>
          </a:prstGeom>
          <a:solidFill>
            <a:srgbClr val="FFFFFF"/>
          </a:solidFill>
          <a:ln w="3810">
            <a:solidFill>
              <a:srgbClr val="E8EDF3"/>
            </a:solidFill>
            <a:prstDash val="solid"/>
          </a:ln>
        </p:spPr>
      </p:sp>
      <p:sp>
        <p:nvSpPr>
          <p:cNvPr id="36" name="Text 34"/>
          <p:cNvSpPr/>
          <p:nvPr/>
        </p:nvSpPr>
        <p:spPr>
          <a:xfrm>
            <a:off x="457200" y="3959352"/>
            <a:ext cx="406908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Technical Consulting</a:t>
            </a:r>
            <a:endParaRPr lang="en-US" sz="850" dirty="0"/>
          </a:p>
        </p:txBody>
      </p:sp>
      <p:sp>
        <p:nvSpPr>
          <p:cNvPr id="37" name="Text 35"/>
          <p:cNvSpPr/>
          <p:nvPr/>
        </p:nvSpPr>
        <p:spPr>
          <a:xfrm>
            <a:off x="4572000" y="3959352"/>
            <a:ext cx="196596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Hourly / project</a:t>
            </a:r>
            <a:endParaRPr lang="en-US" sz="850" dirty="0"/>
          </a:p>
        </p:txBody>
      </p:sp>
      <p:sp>
        <p:nvSpPr>
          <p:cNvPr id="38" name="Text 36"/>
          <p:cNvSpPr/>
          <p:nvPr/>
        </p:nvSpPr>
        <p:spPr>
          <a:xfrm>
            <a:off x="6583680" y="3959352"/>
            <a:ext cx="2103120" cy="274320"/>
          </a:xfrm>
          <a:prstGeom prst="rect">
            <a:avLst/>
          </a:prstGeom>
          <a:noFill/>
          <a:ln/>
        </p:spPr>
        <p:txBody>
          <a:bodyPr wrap="square" lIns="0" tIns="0" rIns="0" bIns="0" rtlCol="0" anchor="ctr"/>
          <a:lstStyle/>
          <a:p>
            <a:pPr indent="0" marL="0">
              <a:buNone/>
            </a:pPr>
            <a:r>
              <a:rPr lang="en-US" sz="850" b="1" dirty="0">
                <a:solidFill>
                  <a:srgbClr val="1A6BAD"/>
                </a:solidFill>
                <a:latin typeface="Calibri" pitchFamily="34" charset="0"/>
                <a:ea typeface="Calibri" pitchFamily="34" charset="-122"/>
                <a:cs typeface="Calibri" pitchFamily="34" charset="-120"/>
              </a:rPr>
              <a:t>USD 5K – 50K</a:t>
            </a:r>
            <a:endParaRPr lang="en-US" sz="850" dirty="0"/>
          </a:p>
        </p:txBody>
      </p:sp>
      <p:sp>
        <p:nvSpPr>
          <p:cNvPr id="39" name="Shape 37"/>
          <p:cNvSpPr/>
          <p:nvPr/>
        </p:nvSpPr>
        <p:spPr>
          <a:xfrm>
            <a:off x="365760" y="4297680"/>
            <a:ext cx="8412480" cy="365760"/>
          </a:xfrm>
          <a:prstGeom prst="rect">
            <a:avLst/>
          </a:prstGeom>
          <a:solidFill>
            <a:srgbClr val="F7F9FC"/>
          </a:solidFill>
          <a:ln w="3810">
            <a:solidFill>
              <a:srgbClr val="E8EDF3"/>
            </a:solidFill>
            <a:prstDash val="solid"/>
          </a:ln>
        </p:spPr>
      </p:sp>
      <p:sp>
        <p:nvSpPr>
          <p:cNvPr id="40" name="Text 38"/>
          <p:cNvSpPr/>
          <p:nvPr/>
        </p:nvSpPr>
        <p:spPr>
          <a:xfrm>
            <a:off x="457200" y="4343400"/>
            <a:ext cx="406908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Aviation Recruitment</a:t>
            </a:r>
            <a:endParaRPr lang="en-US" sz="850" dirty="0"/>
          </a:p>
        </p:txBody>
      </p:sp>
      <p:sp>
        <p:nvSpPr>
          <p:cNvPr id="41" name="Text 39"/>
          <p:cNvSpPr/>
          <p:nvPr/>
        </p:nvSpPr>
        <p:spPr>
          <a:xfrm>
            <a:off x="4572000" y="4343400"/>
            <a:ext cx="1965960" cy="274320"/>
          </a:xfrm>
          <a:prstGeom prst="rect">
            <a:avLst/>
          </a:prstGeom>
          <a:noFill/>
          <a:ln/>
        </p:spPr>
        <p:txBody>
          <a:bodyPr wrap="square" lIns="0" tIns="0" rIns="0" bIns="0" rtlCol="0" anchor="ctr"/>
          <a:lstStyle/>
          <a:p>
            <a:pPr indent="0" marL="0">
              <a:buNone/>
            </a:pPr>
            <a:r>
              <a:rPr lang="en-US" sz="850" dirty="0">
                <a:solidFill>
                  <a:srgbClr val="2D3748"/>
                </a:solidFill>
                <a:latin typeface="Calibri" pitchFamily="34" charset="0"/>
                <a:ea typeface="Calibri" pitchFamily="34" charset="-122"/>
                <a:cs typeface="Calibri" pitchFamily="34" charset="-120"/>
              </a:rPr>
              <a:t>Placement fee</a:t>
            </a:r>
            <a:endParaRPr lang="en-US" sz="850" dirty="0"/>
          </a:p>
        </p:txBody>
      </p:sp>
      <p:sp>
        <p:nvSpPr>
          <p:cNvPr id="42" name="Text 40"/>
          <p:cNvSpPr/>
          <p:nvPr/>
        </p:nvSpPr>
        <p:spPr>
          <a:xfrm>
            <a:off x="6583680" y="4343400"/>
            <a:ext cx="2103120" cy="274320"/>
          </a:xfrm>
          <a:prstGeom prst="rect">
            <a:avLst/>
          </a:prstGeom>
          <a:noFill/>
          <a:ln/>
        </p:spPr>
        <p:txBody>
          <a:bodyPr wrap="square" lIns="0" tIns="0" rIns="0" bIns="0" rtlCol="0" anchor="ctr"/>
          <a:lstStyle/>
          <a:p>
            <a:pPr indent="0" marL="0">
              <a:buNone/>
            </a:pPr>
            <a:r>
              <a:rPr lang="en-US" sz="850" b="1" dirty="0">
                <a:solidFill>
                  <a:srgbClr val="1A6BAD"/>
                </a:solidFill>
                <a:latin typeface="Calibri" pitchFamily="34" charset="0"/>
                <a:ea typeface="Calibri" pitchFamily="34" charset="-122"/>
                <a:cs typeface="Calibri" pitchFamily="34" charset="-120"/>
              </a:rPr>
              <a:t>15–20% annual salary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457200" y="228600"/>
            <a:ext cx="8229600" cy="228600"/>
          </a:xfrm>
          <a:prstGeom prst="rect">
            <a:avLst/>
          </a:prstGeom>
          <a:noFill/>
          <a:ln/>
        </p:spPr>
        <p:txBody>
          <a:bodyPr wrap="square" lIns="0" tIns="0" rIns="0" bIns="0" rtlCol="0" anchor="ctr"/>
          <a:lstStyle/>
          <a:p>
            <a:pPr indent="0" marL="0">
              <a:buNone/>
            </a:pPr>
            <a:r>
              <a:rPr lang="en-US" sz="800" b="1" spc="400" kern="0" dirty="0">
                <a:solidFill>
                  <a:srgbClr val="C9A84C"/>
                </a:solidFill>
                <a:latin typeface="Calibri" pitchFamily="34" charset="0"/>
                <a:ea typeface="Calibri" pitchFamily="34" charset="-122"/>
                <a:cs typeface="Calibri" pitchFamily="34" charset="-120"/>
              </a:rPr>
              <a:t>INVESTMENT REQUIRED</a:t>
            </a:r>
            <a:endParaRPr lang="en-US" sz="800" dirty="0"/>
          </a:p>
        </p:txBody>
      </p:sp>
      <p:sp>
        <p:nvSpPr>
          <p:cNvPr id="4" name="Text 2"/>
          <p:cNvSpPr/>
          <p:nvPr/>
        </p:nvSpPr>
        <p:spPr>
          <a:xfrm>
            <a:off x="457200" y="41148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Launch Budget &amp; Ongoing OPEX</a:t>
            </a:r>
            <a:endParaRPr lang="en-US" sz="2800" dirty="0"/>
          </a:p>
        </p:txBody>
      </p:sp>
      <p:sp>
        <p:nvSpPr>
          <p:cNvPr id="5" name="Shape 3"/>
          <p:cNvSpPr/>
          <p:nvPr/>
        </p:nvSpPr>
        <p:spPr>
          <a:xfrm>
            <a:off x="457200" y="960120"/>
            <a:ext cx="8229600" cy="0"/>
          </a:xfrm>
          <a:prstGeom prst="line">
            <a:avLst/>
          </a:prstGeom>
          <a:noFill/>
          <a:ln w="19050">
            <a:solidFill>
              <a:srgbClr val="C9A84C"/>
            </a:solidFill>
            <a:prstDash val="solid"/>
          </a:ln>
        </p:spPr>
      </p:sp>
      <p:sp>
        <p:nvSpPr>
          <p:cNvPr id="6" name="Shape 4"/>
          <p:cNvSpPr/>
          <p:nvPr/>
        </p:nvSpPr>
        <p:spPr>
          <a:xfrm>
            <a:off x="365760" y="1051560"/>
            <a:ext cx="4023360" cy="347472"/>
          </a:xfrm>
          <a:prstGeom prst="rect">
            <a:avLst/>
          </a:prstGeom>
          <a:solidFill>
            <a:srgbClr val="1A6BAD"/>
          </a:solidFill>
          <a:ln w="12700">
            <a:solidFill>
              <a:srgbClr val="1A6BAD"/>
            </a:solidFill>
            <a:prstDash val="solid"/>
          </a:ln>
        </p:spPr>
      </p:sp>
      <p:sp>
        <p:nvSpPr>
          <p:cNvPr id="7" name="Text 5"/>
          <p:cNvSpPr/>
          <p:nvPr/>
        </p:nvSpPr>
        <p:spPr>
          <a:xfrm>
            <a:off x="502920" y="1097280"/>
            <a:ext cx="374904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INITIAL SETUP COSTS (ONE-TIME)</a:t>
            </a:r>
            <a:endParaRPr lang="en-US" sz="900" dirty="0"/>
          </a:p>
        </p:txBody>
      </p:sp>
      <p:sp>
        <p:nvSpPr>
          <p:cNvPr id="8" name="Shape 6"/>
          <p:cNvSpPr/>
          <p:nvPr/>
        </p:nvSpPr>
        <p:spPr>
          <a:xfrm>
            <a:off x="365760" y="1417320"/>
            <a:ext cx="4023360" cy="329184"/>
          </a:xfrm>
          <a:prstGeom prst="rect">
            <a:avLst/>
          </a:prstGeom>
          <a:solidFill>
            <a:srgbClr val="0D2137"/>
          </a:solidFill>
          <a:ln w="12700">
            <a:solidFill>
              <a:srgbClr val="1A3A5C"/>
            </a:solidFill>
            <a:prstDash val="solid"/>
          </a:ln>
        </p:spPr>
      </p:sp>
      <p:sp>
        <p:nvSpPr>
          <p:cNvPr id="9" name="Text 7"/>
          <p:cNvSpPr/>
          <p:nvPr/>
        </p:nvSpPr>
        <p:spPr>
          <a:xfrm>
            <a:off x="502920" y="1463040"/>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Company registration &amp; legal</a:t>
            </a:r>
            <a:endParaRPr lang="en-US" sz="850" dirty="0"/>
          </a:p>
        </p:txBody>
      </p:sp>
      <p:sp>
        <p:nvSpPr>
          <p:cNvPr id="10" name="Text 8"/>
          <p:cNvSpPr/>
          <p:nvPr/>
        </p:nvSpPr>
        <p:spPr>
          <a:xfrm>
            <a:off x="3063240" y="1463040"/>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10,000 – 25,000</a:t>
            </a:r>
            <a:endParaRPr lang="en-US" sz="850" dirty="0"/>
          </a:p>
        </p:txBody>
      </p:sp>
      <p:sp>
        <p:nvSpPr>
          <p:cNvPr id="11" name="Shape 9"/>
          <p:cNvSpPr/>
          <p:nvPr/>
        </p:nvSpPr>
        <p:spPr>
          <a:xfrm>
            <a:off x="365760" y="1764792"/>
            <a:ext cx="4023360" cy="329184"/>
          </a:xfrm>
          <a:prstGeom prst="rect">
            <a:avLst/>
          </a:prstGeom>
          <a:solidFill>
            <a:srgbClr val="0A1628"/>
          </a:solidFill>
          <a:ln w="12700">
            <a:solidFill>
              <a:srgbClr val="1A3A5C"/>
            </a:solidFill>
            <a:prstDash val="solid"/>
          </a:ln>
        </p:spPr>
      </p:sp>
      <p:sp>
        <p:nvSpPr>
          <p:cNvPr id="12" name="Text 10"/>
          <p:cNvSpPr/>
          <p:nvPr/>
        </p:nvSpPr>
        <p:spPr>
          <a:xfrm>
            <a:off x="502920" y="1810512"/>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Branding &amp; website</a:t>
            </a:r>
            <a:endParaRPr lang="en-US" sz="850" dirty="0"/>
          </a:p>
        </p:txBody>
      </p:sp>
      <p:sp>
        <p:nvSpPr>
          <p:cNvPr id="13" name="Text 11"/>
          <p:cNvSpPr/>
          <p:nvPr/>
        </p:nvSpPr>
        <p:spPr>
          <a:xfrm>
            <a:off x="3063240" y="1810512"/>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8,000 – 20,000</a:t>
            </a:r>
            <a:endParaRPr lang="en-US" sz="850" dirty="0"/>
          </a:p>
        </p:txBody>
      </p:sp>
      <p:sp>
        <p:nvSpPr>
          <p:cNvPr id="14" name="Shape 12"/>
          <p:cNvSpPr/>
          <p:nvPr/>
        </p:nvSpPr>
        <p:spPr>
          <a:xfrm>
            <a:off x="365760" y="2112264"/>
            <a:ext cx="4023360" cy="329184"/>
          </a:xfrm>
          <a:prstGeom prst="rect">
            <a:avLst/>
          </a:prstGeom>
          <a:solidFill>
            <a:srgbClr val="0D2137"/>
          </a:solidFill>
          <a:ln w="12700">
            <a:solidFill>
              <a:srgbClr val="1A3A5C"/>
            </a:solidFill>
            <a:prstDash val="solid"/>
          </a:ln>
        </p:spPr>
      </p:sp>
      <p:sp>
        <p:nvSpPr>
          <p:cNvPr id="15" name="Text 13"/>
          <p:cNvSpPr/>
          <p:nvPr/>
        </p:nvSpPr>
        <p:spPr>
          <a:xfrm>
            <a:off x="502920" y="2157984"/>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Office &amp; infrastructure (Cairo)</a:t>
            </a:r>
            <a:endParaRPr lang="en-US" sz="850" dirty="0"/>
          </a:p>
        </p:txBody>
      </p:sp>
      <p:sp>
        <p:nvSpPr>
          <p:cNvPr id="16" name="Text 14"/>
          <p:cNvSpPr/>
          <p:nvPr/>
        </p:nvSpPr>
        <p:spPr>
          <a:xfrm>
            <a:off x="3063240" y="2157984"/>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10,000 – 25,000</a:t>
            </a:r>
            <a:endParaRPr lang="en-US" sz="850" dirty="0"/>
          </a:p>
        </p:txBody>
      </p:sp>
      <p:sp>
        <p:nvSpPr>
          <p:cNvPr id="17" name="Shape 15"/>
          <p:cNvSpPr/>
          <p:nvPr/>
        </p:nvSpPr>
        <p:spPr>
          <a:xfrm>
            <a:off x="365760" y="2459736"/>
            <a:ext cx="4023360" cy="329184"/>
          </a:xfrm>
          <a:prstGeom prst="rect">
            <a:avLst/>
          </a:prstGeom>
          <a:solidFill>
            <a:srgbClr val="0A1628"/>
          </a:solidFill>
          <a:ln w="12700">
            <a:solidFill>
              <a:srgbClr val="1A3A5C"/>
            </a:solidFill>
            <a:prstDash val="solid"/>
          </a:ln>
        </p:spPr>
      </p:sp>
      <p:sp>
        <p:nvSpPr>
          <p:cNvPr id="18" name="Text 16"/>
          <p:cNvSpPr/>
          <p:nvPr/>
        </p:nvSpPr>
        <p:spPr>
          <a:xfrm>
            <a:off x="502920" y="2505456"/>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Marketing materials &amp; travel</a:t>
            </a:r>
            <a:endParaRPr lang="en-US" sz="850" dirty="0"/>
          </a:p>
        </p:txBody>
      </p:sp>
      <p:sp>
        <p:nvSpPr>
          <p:cNvPr id="19" name="Text 17"/>
          <p:cNvSpPr/>
          <p:nvPr/>
        </p:nvSpPr>
        <p:spPr>
          <a:xfrm>
            <a:off x="3063240" y="2505456"/>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10,000 – 20,000</a:t>
            </a:r>
            <a:endParaRPr lang="en-US" sz="850" dirty="0"/>
          </a:p>
        </p:txBody>
      </p:sp>
      <p:sp>
        <p:nvSpPr>
          <p:cNvPr id="20" name="Shape 18"/>
          <p:cNvSpPr/>
          <p:nvPr/>
        </p:nvSpPr>
        <p:spPr>
          <a:xfrm>
            <a:off x="365760" y="2807208"/>
            <a:ext cx="4023360" cy="329184"/>
          </a:xfrm>
          <a:prstGeom prst="rect">
            <a:avLst/>
          </a:prstGeom>
          <a:solidFill>
            <a:srgbClr val="0D2137"/>
          </a:solidFill>
          <a:ln w="12700">
            <a:solidFill>
              <a:srgbClr val="1A3A5C"/>
            </a:solidFill>
            <a:prstDash val="solid"/>
          </a:ln>
        </p:spPr>
      </p:sp>
      <p:sp>
        <p:nvSpPr>
          <p:cNvPr id="21" name="Text 19"/>
          <p:cNvSpPr/>
          <p:nvPr/>
        </p:nvSpPr>
        <p:spPr>
          <a:xfrm>
            <a:off x="502920" y="2852928"/>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Advisors &amp; consultants</a:t>
            </a:r>
            <a:endParaRPr lang="en-US" sz="850" dirty="0"/>
          </a:p>
        </p:txBody>
      </p:sp>
      <p:sp>
        <p:nvSpPr>
          <p:cNvPr id="22" name="Text 20"/>
          <p:cNvSpPr/>
          <p:nvPr/>
        </p:nvSpPr>
        <p:spPr>
          <a:xfrm>
            <a:off x="3063240" y="2852928"/>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10,000 – 35,000</a:t>
            </a:r>
            <a:endParaRPr lang="en-US" sz="850" dirty="0"/>
          </a:p>
        </p:txBody>
      </p:sp>
      <p:sp>
        <p:nvSpPr>
          <p:cNvPr id="23" name="Shape 21"/>
          <p:cNvSpPr/>
          <p:nvPr/>
        </p:nvSpPr>
        <p:spPr>
          <a:xfrm>
            <a:off x="365760" y="3172968"/>
            <a:ext cx="4023360" cy="384048"/>
          </a:xfrm>
          <a:prstGeom prst="rect">
            <a:avLst/>
          </a:prstGeom>
          <a:solidFill>
            <a:srgbClr val="C9A84C"/>
          </a:solidFill>
          <a:ln w="12700">
            <a:solidFill>
              <a:srgbClr val="C9A84C"/>
            </a:solidFill>
            <a:prstDash val="solid"/>
          </a:ln>
        </p:spPr>
      </p:sp>
      <p:sp>
        <p:nvSpPr>
          <p:cNvPr id="24" name="Text 22"/>
          <p:cNvSpPr/>
          <p:nvPr/>
        </p:nvSpPr>
        <p:spPr>
          <a:xfrm>
            <a:off x="502920" y="3218688"/>
            <a:ext cx="2286000" cy="292608"/>
          </a:xfrm>
          <a:prstGeom prst="rect">
            <a:avLst/>
          </a:prstGeom>
          <a:noFill/>
          <a:ln/>
        </p:spPr>
        <p:txBody>
          <a:bodyPr wrap="square" lIns="0" tIns="0" rIns="0" bIns="0"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TOTAL SETUP</a:t>
            </a:r>
            <a:endParaRPr lang="en-US" sz="900" dirty="0"/>
          </a:p>
        </p:txBody>
      </p:sp>
      <p:sp>
        <p:nvSpPr>
          <p:cNvPr id="25" name="Text 23"/>
          <p:cNvSpPr/>
          <p:nvPr/>
        </p:nvSpPr>
        <p:spPr>
          <a:xfrm>
            <a:off x="2743200" y="3218688"/>
            <a:ext cx="1554480" cy="292608"/>
          </a:xfrm>
          <a:prstGeom prst="rect">
            <a:avLst/>
          </a:prstGeom>
          <a:noFill/>
          <a:ln/>
        </p:spPr>
        <p:txBody>
          <a:bodyPr wrap="square" lIns="0" tIns="0" rIns="0" bIns="0" rtlCol="0" anchor="ctr"/>
          <a:lstStyle/>
          <a:p>
            <a:pPr algn="r" indent="0" marL="0">
              <a:buNone/>
            </a:pPr>
            <a:r>
              <a:rPr lang="en-US" sz="1100" b="1" dirty="0">
                <a:solidFill>
                  <a:srgbClr val="0A1628"/>
                </a:solidFill>
                <a:latin typeface="Calibri" pitchFamily="34" charset="0"/>
                <a:ea typeface="Calibri" pitchFamily="34" charset="-122"/>
                <a:cs typeface="Calibri" pitchFamily="34" charset="-120"/>
              </a:rPr>
              <a:t>USD 68K – 125K</a:t>
            </a:r>
            <a:endParaRPr lang="en-US" sz="1100" dirty="0"/>
          </a:p>
        </p:txBody>
      </p:sp>
      <p:sp>
        <p:nvSpPr>
          <p:cNvPr id="26" name="Shape 24"/>
          <p:cNvSpPr/>
          <p:nvPr/>
        </p:nvSpPr>
        <p:spPr>
          <a:xfrm>
            <a:off x="4754880" y="1051560"/>
            <a:ext cx="4023360" cy="347472"/>
          </a:xfrm>
          <a:prstGeom prst="rect">
            <a:avLst/>
          </a:prstGeom>
          <a:solidFill>
            <a:srgbClr val="0D2137"/>
          </a:solidFill>
          <a:ln w="6350">
            <a:solidFill>
              <a:srgbClr val="1A6BAD"/>
            </a:solidFill>
            <a:prstDash val="solid"/>
          </a:ln>
        </p:spPr>
      </p:sp>
      <p:sp>
        <p:nvSpPr>
          <p:cNvPr id="27" name="Text 25"/>
          <p:cNvSpPr/>
          <p:nvPr/>
        </p:nvSpPr>
        <p:spPr>
          <a:xfrm>
            <a:off x="4892040" y="1097280"/>
            <a:ext cx="3749040" cy="256032"/>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MONTHLY OPERATING COSTS (OPEX)</a:t>
            </a:r>
            <a:endParaRPr lang="en-US" sz="900" dirty="0"/>
          </a:p>
        </p:txBody>
      </p:sp>
      <p:sp>
        <p:nvSpPr>
          <p:cNvPr id="28" name="Shape 26"/>
          <p:cNvSpPr/>
          <p:nvPr/>
        </p:nvSpPr>
        <p:spPr>
          <a:xfrm>
            <a:off x="4754880" y="1417320"/>
            <a:ext cx="4023360" cy="329184"/>
          </a:xfrm>
          <a:prstGeom prst="rect">
            <a:avLst/>
          </a:prstGeom>
          <a:solidFill>
            <a:srgbClr val="0D2137"/>
          </a:solidFill>
          <a:ln w="12700">
            <a:solidFill>
              <a:srgbClr val="1A3A5C"/>
            </a:solidFill>
            <a:prstDash val="solid"/>
          </a:ln>
        </p:spPr>
      </p:sp>
      <p:sp>
        <p:nvSpPr>
          <p:cNvPr id="29" name="Text 27"/>
          <p:cNvSpPr/>
          <p:nvPr/>
        </p:nvSpPr>
        <p:spPr>
          <a:xfrm>
            <a:off x="4892040" y="1463040"/>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Salaries — core team</a:t>
            </a:r>
            <a:endParaRPr lang="en-US" sz="850" dirty="0"/>
          </a:p>
        </p:txBody>
      </p:sp>
      <p:sp>
        <p:nvSpPr>
          <p:cNvPr id="30" name="Text 28"/>
          <p:cNvSpPr/>
          <p:nvPr/>
        </p:nvSpPr>
        <p:spPr>
          <a:xfrm>
            <a:off x="7452360" y="1463040"/>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15,000 – 40,000</a:t>
            </a:r>
            <a:endParaRPr lang="en-US" sz="850" dirty="0"/>
          </a:p>
        </p:txBody>
      </p:sp>
      <p:sp>
        <p:nvSpPr>
          <p:cNvPr id="31" name="Shape 29"/>
          <p:cNvSpPr/>
          <p:nvPr/>
        </p:nvSpPr>
        <p:spPr>
          <a:xfrm>
            <a:off x="4754880" y="1764792"/>
            <a:ext cx="4023360" cy="329184"/>
          </a:xfrm>
          <a:prstGeom prst="rect">
            <a:avLst/>
          </a:prstGeom>
          <a:solidFill>
            <a:srgbClr val="0A1628"/>
          </a:solidFill>
          <a:ln w="12700">
            <a:solidFill>
              <a:srgbClr val="1A3A5C"/>
            </a:solidFill>
            <a:prstDash val="solid"/>
          </a:ln>
        </p:spPr>
      </p:sp>
      <p:sp>
        <p:nvSpPr>
          <p:cNvPr id="32" name="Text 30"/>
          <p:cNvSpPr/>
          <p:nvPr/>
        </p:nvSpPr>
        <p:spPr>
          <a:xfrm>
            <a:off x="4892040" y="1810512"/>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Office rent — Cairo</a:t>
            </a:r>
            <a:endParaRPr lang="en-US" sz="850" dirty="0"/>
          </a:p>
        </p:txBody>
      </p:sp>
      <p:sp>
        <p:nvSpPr>
          <p:cNvPr id="33" name="Text 31"/>
          <p:cNvSpPr/>
          <p:nvPr/>
        </p:nvSpPr>
        <p:spPr>
          <a:xfrm>
            <a:off x="7452360" y="1810512"/>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2,000 – 6,000</a:t>
            </a:r>
            <a:endParaRPr lang="en-US" sz="850" dirty="0"/>
          </a:p>
        </p:txBody>
      </p:sp>
      <p:sp>
        <p:nvSpPr>
          <p:cNvPr id="34" name="Shape 32"/>
          <p:cNvSpPr/>
          <p:nvPr/>
        </p:nvSpPr>
        <p:spPr>
          <a:xfrm>
            <a:off x="4754880" y="2112264"/>
            <a:ext cx="4023360" cy="329184"/>
          </a:xfrm>
          <a:prstGeom prst="rect">
            <a:avLst/>
          </a:prstGeom>
          <a:solidFill>
            <a:srgbClr val="0D2137"/>
          </a:solidFill>
          <a:ln w="12700">
            <a:solidFill>
              <a:srgbClr val="1A3A5C"/>
            </a:solidFill>
            <a:prstDash val="solid"/>
          </a:ln>
        </p:spPr>
      </p:sp>
      <p:sp>
        <p:nvSpPr>
          <p:cNvPr id="35" name="Text 33"/>
          <p:cNvSpPr/>
          <p:nvPr/>
        </p:nvSpPr>
        <p:spPr>
          <a:xfrm>
            <a:off x="4892040" y="2157984"/>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Marketing &amp; digital</a:t>
            </a:r>
            <a:endParaRPr lang="en-US" sz="850" dirty="0"/>
          </a:p>
        </p:txBody>
      </p:sp>
      <p:sp>
        <p:nvSpPr>
          <p:cNvPr id="36" name="Text 34"/>
          <p:cNvSpPr/>
          <p:nvPr/>
        </p:nvSpPr>
        <p:spPr>
          <a:xfrm>
            <a:off x="7452360" y="2157984"/>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2,000 – 8,000</a:t>
            </a:r>
            <a:endParaRPr lang="en-US" sz="850" dirty="0"/>
          </a:p>
        </p:txBody>
      </p:sp>
      <p:sp>
        <p:nvSpPr>
          <p:cNvPr id="37" name="Shape 35"/>
          <p:cNvSpPr/>
          <p:nvPr/>
        </p:nvSpPr>
        <p:spPr>
          <a:xfrm>
            <a:off x="4754880" y="2459736"/>
            <a:ext cx="4023360" cy="329184"/>
          </a:xfrm>
          <a:prstGeom prst="rect">
            <a:avLst/>
          </a:prstGeom>
          <a:solidFill>
            <a:srgbClr val="0A1628"/>
          </a:solidFill>
          <a:ln w="12700">
            <a:solidFill>
              <a:srgbClr val="1A3A5C"/>
            </a:solidFill>
            <a:prstDash val="solid"/>
          </a:ln>
        </p:spPr>
      </p:sp>
      <p:sp>
        <p:nvSpPr>
          <p:cNvPr id="38" name="Text 36"/>
          <p:cNvSpPr/>
          <p:nvPr/>
        </p:nvSpPr>
        <p:spPr>
          <a:xfrm>
            <a:off x="4892040" y="2505456"/>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Travel &amp; client development</a:t>
            </a:r>
            <a:endParaRPr lang="en-US" sz="850" dirty="0"/>
          </a:p>
        </p:txBody>
      </p:sp>
      <p:sp>
        <p:nvSpPr>
          <p:cNvPr id="39" name="Text 37"/>
          <p:cNvSpPr/>
          <p:nvPr/>
        </p:nvSpPr>
        <p:spPr>
          <a:xfrm>
            <a:off x="7452360" y="2505456"/>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3,000 – 10,000</a:t>
            </a:r>
            <a:endParaRPr lang="en-US" sz="850" dirty="0"/>
          </a:p>
        </p:txBody>
      </p:sp>
      <p:sp>
        <p:nvSpPr>
          <p:cNvPr id="40" name="Shape 38"/>
          <p:cNvSpPr/>
          <p:nvPr/>
        </p:nvSpPr>
        <p:spPr>
          <a:xfrm>
            <a:off x="4754880" y="2807208"/>
            <a:ext cx="4023360" cy="329184"/>
          </a:xfrm>
          <a:prstGeom prst="rect">
            <a:avLst/>
          </a:prstGeom>
          <a:solidFill>
            <a:srgbClr val="0D2137"/>
          </a:solidFill>
          <a:ln w="12700">
            <a:solidFill>
              <a:srgbClr val="1A3A5C"/>
            </a:solidFill>
            <a:prstDash val="solid"/>
          </a:ln>
        </p:spPr>
      </p:sp>
      <p:sp>
        <p:nvSpPr>
          <p:cNvPr id="41" name="Text 39"/>
          <p:cNvSpPr/>
          <p:nvPr/>
        </p:nvSpPr>
        <p:spPr>
          <a:xfrm>
            <a:off x="4892040" y="2852928"/>
            <a:ext cx="2560320" cy="237744"/>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External advisors</a:t>
            </a:r>
            <a:endParaRPr lang="en-US" sz="850" dirty="0"/>
          </a:p>
        </p:txBody>
      </p:sp>
      <p:sp>
        <p:nvSpPr>
          <p:cNvPr id="42" name="Text 40"/>
          <p:cNvSpPr/>
          <p:nvPr/>
        </p:nvSpPr>
        <p:spPr>
          <a:xfrm>
            <a:off x="7452360" y="2852928"/>
            <a:ext cx="1280160" cy="237744"/>
          </a:xfrm>
          <a:prstGeom prst="rect">
            <a:avLst/>
          </a:prstGeom>
          <a:noFill/>
          <a:ln/>
        </p:spPr>
        <p:txBody>
          <a:bodyPr wrap="square" lIns="0" tIns="0" rIns="0" bIns="0" rtlCol="0" anchor="ctr"/>
          <a:lstStyle/>
          <a:p>
            <a:pPr algn="r" indent="0" marL="0">
              <a:buNone/>
            </a:pPr>
            <a:r>
              <a:rPr lang="en-US" sz="850" b="1" dirty="0">
                <a:solidFill>
                  <a:srgbClr val="C9A84C"/>
                </a:solidFill>
                <a:latin typeface="Calibri" pitchFamily="34" charset="0"/>
                <a:ea typeface="Calibri" pitchFamily="34" charset="-122"/>
                <a:cs typeface="Calibri" pitchFamily="34" charset="-120"/>
              </a:rPr>
              <a:t>USD 5,000 – 15,000</a:t>
            </a:r>
            <a:endParaRPr lang="en-US" sz="850" dirty="0"/>
          </a:p>
        </p:txBody>
      </p:sp>
      <p:sp>
        <p:nvSpPr>
          <p:cNvPr id="43" name="Shape 41"/>
          <p:cNvSpPr/>
          <p:nvPr/>
        </p:nvSpPr>
        <p:spPr>
          <a:xfrm>
            <a:off x="4754880" y="3172968"/>
            <a:ext cx="4023360" cy="384048"/>
          </a:xfrm>
          <a:prstGeom prst="rect">
            <a:avLst/>
          </a:prstGeom>
          <a:solidFill>
            <a:srgbClr val="0D2137"/>
          </a:solidFill>
          <a:ln w="12700">
            <a:solidFill>
              <a:srgbClr val="C9A84C"/>
            </a:solidFill>
            <a:prstDash val="solid"/>
          </a:ln>
        </p:spPr>
      </p:sp>
      <p:sp>
        <p:nvSpPr>
          <p:cNvPr id="44" name="Text 42"/>
          <p:cNvSpPr/>
          <p:nvPr/>
        </p:nvSpPr>
        <p:spPr>
          <a:xfrm>
            <a:off x="4892040" y="3218688"/>
            <a:ext cx="2286000" cy="29260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TOTAL MONTHLY OPEX</a:t>
            </a:r>
            <a:endParaRPr lang="en-US" sz="900" dirty="0"/>
          </a:p>
        </p:txBody>
      </p:sp>
      <p:sp>
        <p:nvSpPr>
          <p:cNvPr id="45" name="Text 43"/>
          <p:cNvSpPr/>
          <p:nvPr/>
        </p:nvSpPr>
        <p:spPr>
          <a:xfrm>
            <a:off x="7132320" y="3218688"/>
            <a:ext cx="1554480" cy="292608"/>
          </a:xfrm>
          <a:prstGeom prst="rect">
            <a:avLst/>
          </a:prstGeom>
          <a:noFill/>
          <a:ln/>
        </p:spPr>
        <p:txBody>
          <a:bodyPr wrap="square" lIns="0" tIns="0" rIns="0" bIns="0"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USD 27K – 79K/mo</a:t>
            </a:r>
            <a:endParaRPr lang="en-US" sz="1000" dirty="0"/>
          </a:p>
        </p:txBody>
      </p:sp>
      <p:sp>
        <p:nvSpPr>
          <p:cNvPr id="46" name="Shape 44"/>
          <p:cNvSpPr/>
          <p:nvPr/>
        </p:nvSpPr>
        <p:spPr>
          <a:xfrm>
            <a:off x="365760" y="3703320"/>
            <a:ext cx="8412480" cy="1143000"/>
          </a:xfrm>
          <a:prstGeom prst="rect">
            <a:avLst/>
          </a:prstGeom>
          <a:solidFill>
            <a:srgbClr val="0D2137"/>
          </a:solidFill>
          <a:ln w="12700">
            <a:solidFill>
              <a:srgbClr val="1A3A5C"/>
            </a:solidFill>
            <a:prstDash val="solid"/>
          </a:ln>
        </p:spPr>
      </p:sp>
      <p:sp>
        <p:nvSpPr>
          <p:cNvPr id="47" name="Text 45"/>
          <p:cNvSpPr/>
          <p:nvPr/>
        </p:nvSpPr>
        <p:spPr>
          <a:xfrm>
            <a:off x="548640" y="3767328"/>
            <a:ext cx="804672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Lean Startup Staffing</a:t>
            </a:r>
            <a:endParaRPr lang="en-US" sz="900" dirty="0"/>
          </a:p>
        </p:txBody>
      </p:sp>
      <p:sp>
        <p:nvSpPr>
          <p:cNvPr id="48" name="Text 46"/>
          <p:cNvSpPr/>
          <p:nvPr/>
        </p:nvSpPr>
        <p:spPr>
          <a:xfrm>
            <a:off x="548640" y="4041648"/>
            <a:ext cx="8046720" cy="685800"/>
          </a:xfrm>
          <a:prstGeom prst="rect">
            <a:avLst/>
          </a:prstGeom>
          <a:noFill/>
          <a:ln/>
        </p:spPr>
        <p:txBody>
          <a:bodyPr wrap="square" lIns="0" tIns="0" rIns="0" bIns="0" rtlCol="0" anchor="ctr"/>
          <a:lstStyle/>
          <a:p>
            <a:pPr indent="0" marL="0">
              <a:buNone/>
            </a:pPr>
            <a:r>
              <a:rPr lang="en-US" sz="850" dirty="0">
                <a:solidFill>
                  <a:srgbClr val="8FA3B4"/>
                </a:solidFill>
                <a:latin typeface="Calibri" pitchFamily="34" charset="0"/>
                <a:ea typeface="Calibri" pitchFamily="34" charset="-122"/>
                <a:cs typeface="Calibri" pitchFamily="34" charset="-120"/>
              </a:rPr>
              <a:t>Managing Director (FT)  ·  Operations Director (FT)  ·  Commercial Manager (FT)  ·  Marketing/Digital (PT)  ·  Finance/Admin (PT)  ·  Technical, Legal &amp; Regulatory Advisors (External)</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64592" cy="5148072"/>
          </a:xfrm>
          <a:prstGeom prst="rect">
            <a:avLst/>
          </a:prstGeom>
          <a:solidFill>
            <a:srgbClr val="0A1628"/>
          </a:solidFill>
          <a:ln w="12700">
            <a:solidFill>
              <a:srgbClr val="0A1628"/>
            </a:solidFill>
            <a:prstDash val="solid"/>
          </a:ln>
        </p:spPr>
      </p:sp>
      <p:sp>
        <p:nvSpPr>
          <p:cNvPr id="3" name="Shape 1"/>
          <p:cNvSpPr/>
          <p:nvPr/>
        </p:nvSpPr>
        <p:spPr>
          <a:xfrm>
            <a:off x="164592" y="0"/>
            <a:ext cx="45720" cy="5148072"/>
          </a:xfrm>
          <a:prstGeom prst="rect">
            <a:avLst/>
          </a:prstGeom>
          <a:solidFill>
            <a:srgbClr val="C9A84C"/>
          </a:solidFill>
          <a:ln w="12700">
            <a:solidFill>
              <a:srgbClr val="C9A84C"/>
            </a:solidFill>
            <a:prstDash val="solid"/>
          </a:ln>
        </p:spPr>
      </p:sp>
      <p:sp>
        <p:nvSpPr>
          <p:cNvPr id="4" name="Text 2"/>
          <p:cNvSpPr/>
          <p:nvPr/>
        </p:nvSpPr>
        <p:spPr>
          <a:xfrm>
            <a:off x="365760" y="320040"/>
            <a:ext cx="8503920" cy="274320"/>
          </a:xfrm>
          <a:prstGeom prst="rect">
            <a:avLst/>
          </a:prstGeom>
          <a:noFill/>
          <a:ln/>
        </p:spPr>
        <p:txBody>
          <a:bodyPr wrap="square" lIns="0" tIns="0" rIns="0" bIns="0" rtlCol="0" anchor="ctr"/>
          <a:lstStyle/>
          <a:p>
            <a:pPr indent="0" marL="0">
              <a:buNone/>
            </a:pPr>
            <a:r>
              <a:rPr lang="en-US" sz="800" b="1" spc="400" kern="0" dirty="0">
                <a:solidFill>
                  <a:srgbClr val="C9A84C"/>
                </a:solidFill>
                <a:latin typeface="Calibri" pitchFamily="34" charset="0"/>
                <a:ea typeface="Calibri" pitchFamily="34" charset="-122"/>
                <a:cs typeface="Calibri" pitchFamily="34" charset="-120"/>
              </a:rPr>
              <a:t>WHY AIR CONSULT</a:t>
            </a:r>
            <a:endParaRPr lang="en-US" sz="800" dirty="0"/>
          </a:p>
        </p:txBody>
      </p:sp>
      <p:sp>
        <p:nvSpPr>
          <p:cNvPr id="5" name="Text 3"/>
          <p:cNvSpPr/>
          <p:nvPr/>
        </p:nvSpPr>
        <p:spPr>
          <a:xfrm>
            <a:off x="365760" y="548640"/>
            <a:ext cx="8503920" cy="548640"/>
          </a:xfrm>
          <a:prstGeom prst="rect">
            <a:avLst/>
          </a:prstGeom>
          <a:noFill/>
          <a:ln/>
        </p:spPr>
        <p:txBody>
          <a:bodyPr wrap="square" lIns="0" tIns="0" rIns="0" bIns="0" rtlCol="0" anchor="ctr"/>
          <a:lstStyle/>
          <a:p>
            <a:pPr indent="0" marL="0">
              <a:buNone/>
            </a:pPr>
            <a:r>
              <a:rPr lang="en-US" sz="2800" b="1" dirty="0">
                <a:solidFill>
                  <a:srgbClr val="0A1628"/>
                </a:solidFill>
                <a:latin typeface="Calibri" pitchFamily="34" charset="0"/>
                <a:ea typeface="Calibri" pitchFamily="34" charset="-122"/>
                <a:cs typeface="Calibri" pitchFamily="34" charset="-120"/>
              </a:rPr>
              <a:t>Competitive Advantages</a:t>
            </a:r>
            <a:endParaRPr lang="en-US" sz="2800" dirty="0"/>
          </a:p>
        </p:txBody>
      </p:sp>
      <p:sp>
        <p:nvSpPr>
          <p:cNvPr id="6" name="Shape 4"/>
          <p:cNvSpPr/>
          <p:nvPr/>
        </p:nvSpPr>
        <p:spPr>
          <a:xfrm>
            <a:off x="365760" y="1143000"/>
            <a:ext cx="8412480" cy="0"/>
          </a:xfrm>
          <a:prstGeom prst="line">
            <a:avLst/>
          </a:prstGeom>
          <a:noFill/>
          <a:ln w="19050">
            <a:solidFill>
              <a:srgbClr val="C9A84C"/>
            </a:solidFill>
            <a:prstDash val="solid"/>
          </a:ln>
        </p:spPr>
      </p:sp>
      <p:sp>
        <p:nvSpPr>
          <p:cNvPr id="7" name="Shape 5"/>
          <p:cNvSpPr/>
          <p:nvPr/>
        </p:nvSpPr>
        <p:spPr>
          <a:xfrm>
            <a:off x="365760" y="1280160"/>
            <a:ext cx="2651760" cy="1691640"/>
          </a:xfrm>
          <a:prstGeom prst="rect">
            <a:avLst/>
          </a:prstGeom>
          <a:solidFill>
            <a:srgbClr val="FFFFFF"/>
          </a:solidFill>
          <a:ln w="12700">
            <a:solidFill>
              <a:srgbClr val="E8EDF3"/>
            </a:solidFill>
            <a:prstDash val="solid"/>
          </a:ln>
          <a:effectLst>
            <a:outerShdw sx="100000" sy="100000" kx="0" ky="0" algn="bl" rotWithShape="0" blurRad="127000" dist="38100" dir="8100000">
              <a:srgbClr val="000000">
                <a:alpha val="15000"/>
              </a:srgbClr>
            </a:outerShdw>
          </a:effectLst>
        </p:spPr>
      </p:sp>
      <p:sp>
        <p:nvSpPr>
          <p:cNvPr id="8" name="Shape 6"/>
          <p:cNvSpPr/>
          <p:nvPr/>
        </p:nvSpPr>
        <p:spPr>
          <a:xfrm>
            <a:off x="365760" y="1280160"/>
            <a:ext cx="2651760" cy="54864"/>
          </a:xfrm>
          <a:prstGeom prst="rect">
            <a:avLst/>
          </a:prstGeom>
          <a:solidFill>
            <a:srgbClr val="C9A84C"/>
          </a:solidFill>
          <a:ln w="12700">
            <a:solidFill>
              <a:srgbClr val="C9A84C"/>
            </a:solidFill>
            <a:prstDash val="solid"/>
          </a:ln>
        </p:spPr>
      </p:sp>
      <p:sp>
        <p:nvSpPr>
          <p:cNvPr id="9" name="Text 7"/>
          <p:cNvSpPr/>
          <p:nvPr/>
        </p:nvSpPr>
        <p:spPr>
          <a:xfrm>
            <a:off x="475488" y="1389888"/>
            <a:ext cx="457200" cy="320040"/>
          </a:xfrm>
          <a:prstGeom prst="rect">
            <a:avLst/>
          </a:prstGeom>
          <a:noFill/>
          <a:ln/>
        </p:spPr>
        <p:txBody>
          <a:bodyPr wrap="square" lIns="0" tIns="0" rIns="0" bIns="0" rtlCol="0" anchor="ctr"/>
          <a:lstStyle/>
          <a:p>
            <a:pPr indent="0" marL="0">
              <a:buNone/>
            </a:pPr>
            <a:r>
              <a:rPr lang="en-US" sz="1800" b="1" dirty="0">
                <a:solidFill>
                  <a:srgbClr val="1A6BAD"/>
                </a:solidFill>
                <a:latin typeface="Calibri" pitchFamily="34" charset="0"/>
                <a:ea typeface="Calibri" pitchFamily="34" charset="-122"/>
                <a:cs typeface="Calibri" pitchFamily="34" charset="-120"/>
              </a:rPr>
              <a:t>01</a:t>
            </a:r>
            <a:endParaRPr lang="en-US" sz="1800" dirty="0"/>
          </a:p>
        </p:txBody>
      </p:sp>
      <p:sp>
        <p:nvSpPr>
          <p:cNvPr id="10" name="Text 8"/>
          <p:cNvSpPr/>
          <p:nvPr/>
        </p:nvSpPr>
        <p:spPr>
          <a:xfrm>
            <a:off x="475488" y="1719072"/>
            <a:ext cx="2423160" cy="347472"/>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Operational Experience</a:t>
            </a:r>
            <a:endParaRPr lang="en-US" sz="1000" dirty="0"/>
          </a:p>
        </p:txBody>
      </p:sp>
      <p:sp>
        <p:nvSpPr>
          <p:cNvPr id="11" name="Shape 9"/>
          <p:cNvSpPr/>
          <p:nvPr/>
        </p:nvSpPr>
        <p:spPr>
          <a:xfrm>
            <a:off x="475488" y="2075688"/>
            <a:ext cx="2423160" cy="0"/>
          </a:xfrm>
          <a:prstGeom prst="line">
            <a:avLst/>
          </a:prstGeom>
          <a:noFill/>
          <a:ln w="6350">
            <a:solidFill>
              <a:srgbClr val="E8EDF3"/>
            </a:solidFill>
            <a:prstDash val="solid"/>
          </a:ln>
        </p:spPr>
      </p:sp>
      <p:sp>
        <p:nvSpPr>
          <p:cNvPr id="12" name="Text 10"/>
          <p:cNvSpPr/>
          <p:nvPr/>
        </p:nvSpPr>
        <p:spPr>
          <a:xfrm>
            <a:off x="475488" y="2148840"/>
            <a:ext cx="2423160" cy="749808"/>
          </a:xfrm>
          <a:prstGeom prst="rect">
            <a:avLst/>
          </a:prstGeom>
          <a:noFill/>
          <a:ln/>
        </p:spPr>
        <p:txBody>
          <a:bodyPr wrap="square" lIns="0" tIns="0" rIns="0" bIns="0" rtlCol="0" anchor="ctr"/>
          <a:lstStyle/>
          <a:p>
            <a:pPr indent="0" marL="0">
              <a:buNone/>
            </a:pPr>
            <a:r>
              <a:rPr lang="en-US" sz="800" dirty="0">
                <a:solidFill>
                  <a:srgbClr val="2D3748"/>
                </a:solidFill>
                <a:latin typeface="Calibri" pitchFamily="34" charset="0"/>
                <a:ea typeface="Calibri" pitchFamily="34" charset="-122"/>
                <a:cs typeface="Calibri" pitchFamily="34" charset="-120"/>
              </a:rPr>
              <a:t>We are practitioners who actually build and run airlines — not theorists with PowerPoint strategies.</a:t>
            </a:r>
            <a:endParaRPr lang="en-US" sz="800" dirty="0"/>
          </a:p>
        </p:txBody>
      </p:sp>
      <p:sp>
        <p:nvSpPr>
          <p:cNvPr id="13" name="Shape 11"/>
          <p:cNvSpPr/>
          <p:nvPr/>
        </p:nvSpPr>
        <p:spPr>
          <a:xfrm>
            <a:off x="3200400" y="1280160"/>
            <a:ext cx="2651760" cy="1691640"/>
          </a:xfrm>
          <a:prstGeom prst="rect">
            <a:avLst/>
          </a:prstGeom>
          <a:solidFill>
            <a:srgbClr val="FFFFFF"/>
          </a:solidFill>
          <a:ln w="12700">
            <a:solidFill>
              <a:srgbClr val="E8EDF3"/>
            </a:solidFill>
            <a:prstDash val="solid"/>
          </a:ln>
          <a:effectLst>
            <a:outerShdw sx="100000" sy="100000" kx="0" ky="0" algn="bl" rotWithShape="0" blurRad="127000" dist="38100" dir="8100000">
              <a:srgbClr val="000000">
                <a:alpha val="15000"/>
              </a:srgbClr>
            </a:outerShdw>
          </a:effectLst>
        </p:spPr>
      </p:sp>
      <p:sp>
        <p:nvSpPr>
          <p:cNvPr id="14" name="Shape 12"/>
          <p:cNvSpPr/>
          <p:nvPr/>
        </p:nvSpPr>
        <p:spPr>
          <a:xfrm>
            <a:off x="3200400" y="1280160"/>
            <a:ext cx="2651760" cy="54864"/>
          </a:xfrm>
          <a:prstGeom prst="rect">
            <a:avLst/>
          </a:prstGeom>
          <a:solidFill>
            <a:srgbClr val="C9A84C"/>
          </a:solidFill>
          <a:ln w="12700">
            <a:solidFill>
              <a:srgbClr val="C9A84C"/>
            </a:solidFill>
            <a:prstDash val="solid"/>
          </a:ln>
        </p:spPr>
      </p:sp>
      <p:sp>
        <p:nvSpPr>
          <p:cNvPr id="15" name="Text 13"/>
          <p:cNvSpPr/>
          <p:nvPr/>
        </p:nvSpPr>
        <p:spPr>
          <a:xfrm>
            <a:off x="3310128" y="1389888"/>
            <a:ext cx="457200" cy="320040"/>
          </a:xfrm>
          <a:prstGeom prst="rect">
            <a:avLst/>
          </a:prstGeom>
          <a:noFill/>
          <a:ln/>
        </p:spPr>
        <p:txBody>
          <a:bodyPr wrap="square" lIns="0" tIns="0" rIns="0" bIns="0"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02</a:t>
            </a:r>
            <a:endParaRPr lang="en-US" sz="1800" dirty="0"/>
          </a:p>
        </p:txBody>
      </p:sp>
      <p:sp>
        <p:nvSpPr>
          <p:cNvPr id="16" name="Text 14"/>
          <p:cNvSpPr/>
          <p:nvPr/>
        </p:nvSpPr>
        <p:spPr>
          <a:xfrm>
            <a:off x="3310128" y="1719072"/>
            <a:ext cx="2423160" cy="347472"/>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MENA + Europe Connectivity</a:t>
            </a:r>
            <a:endParaRPr lang="en-US" sz="1000" dirty="0"/>
          </a:p>
        </p:txBody>
      </p:sp>
      <p:sp>
        <p:nvSpPr>
          <p:cNvPr id="17" name="Shape 15"/>
          <p:cNvSpPr/>
          <p:nvPr/>
        </p:nvSpPr>
        <p:spPr>
          <a:xfrm>
            <a:off x="3310128" y="2075688"/>
            <a:ext cx="2423160" cy="0"/>
          </a:xfrm>
          <a:prstGeom prst="line">
            <a:avLst/>
          </a:prstGeom>
          <a:noFill/>
          <a:ln w="6350">
            <a:solidFill>
              <a:srgbClr val="E8EDF3"/>
            </a:solidFill>
            <a:prstDash val="solid"/>
          </a:ln>
        </p:spPr>
      </p:sp>
      <p:sp>
        <p:nvSpPr>
          <p:cNvPr id="18" name="Text 16"/>
          <p:cNvSpPr/>
          <p:nvPr/>
        </p:nvSpPr>
        <p:spPr>
          <a:xfrm>
            <a:off x="3310128" y="2148840"/>
            <a:ext cx="2423160" cy="749808"/>
          </a:xfrm>
          <a:prstGeom prst="rect">
            <a:avLst/>
          </a:prstGeom>
          <a:noFill/>
          <a:ln/>
        </p:spPr>
        <p:txBody>
          <a:bodyPr wrap="square" lIns="0" tIns="0" rIns="0" bIns="0" rtlCol="0" anchor="ctr"/>
          <a:lstStyle/>
          <a:p>
            <a:pPr indent="0" marL="0">
              <a:buNone/>
            </a:pPr>
            <a:r>
              <a:rPr lang="en-US" sz="800" dirty="0">
                <a:solidFill>
                  <a:srgbClr val="2D3748"/>
                </a:solidFill>
                <a:latin typeface="Calibri" pitchFamily="34" charset="0"/>
                <a:ea typeface="Calibri" pitchFamily="34" charset="-122"/>
                <a:cs typeface="Calibri" pitchFamily="34" charset="-120"/>
              </a:rPr>
              <a:t>Unique positioning between Europe and MENA — invaluable for cargo, ACMI, and emerging airline projects.</a:t>
            </a:r>
            <a:endParaRPr lang="en-US" sz="800" dirty="0"/>
          </a:p>
        </p:txBody>
      </p:sp>
      <p:sp>
        <p:nvSpPr>
          <p:cNvPr id="19" name="Shape 17"/>
          <p:cNvSpPr/>
          <p:nvPr/>
        </p:nvSpPr>
        <p:spPr>
          <a:xfrm>
            <a:off x="6035040" y="1280160"/>
            <a:ext cx="2651760" cy="1691640"/>
          </a:xfrm>
          <a:prstGeom prst="rect">
            <a:avLst/>
          </a:prstGeom>
          <a:solidFill>
            <a:srgbClr val="FFFFFF"/>
          </a:solidFill>
          <a:ln w="12700">
            <a:solidFill>
              <a:srgbClr val="E8EDF3"/>
            </a:solidFill>
            <a:prstDash val="solid"/>
          </a:ln>
          <a:effectLst>
            <a:outerShdw sx="100000" sy="100000" kx="0" ky="0" algn="bl" rotWithShape="0" blurRad="127000" dist="38100" dir="8100000">
              <a:srgbClr val="000000">
                <a:alpha val="15000"/>
              </a:srgbClr>
            </a:outerShdw>
          </a:effectLst>
        </p:spPr>
      </p:sp>
      <p:sp>
        <p:nvSpPr>
          <p:cNvPr id="20" name="Shape 18"/>
          <p:cNvSpPr/>
          <p:nvPr/>
        </p:nvSpPr>
        <p:spPr>
          <a:xfrm>
            <a:off x="6035040" y="1280160"/>
            <a:ext cx="2651760" cy="54864"/>
          </a:xfrm>
          <a:prstGeom prst="rect">
            <a:avLst/>
          </a:prstGeom>
          <a:solidFill>
            <a:srgbClr val="C9A84C"/>
          </a:solidFill>
          <a:ln w="12700">
            <a:solidFill>
              <a:srgbClr val="C9A84C"/>
            </a:solidFill>
            <a:prstDash val="solid"/>
          </a:ln>
        </p:spPr>
      </p:sp>
      <p:sp>
        <p:nvSpPr>
          <p:cNvPr id="21" name="Text 19"/>
          <p:cNvSpPr/>
          <p:nvPr/>
        </p:nvSpPr>
        <p:spPr>
          <a:xfrm>
            <a:off x="6144768" y="1389888"/>
            <a:ext cx="457200" cy="320040"/>
          </a:xfrm>
          <a:prstGeom prst="rect">
            <a:avLst/>
          </a:prstGeom>
          <a:noFill/>
          <a:ln/>
        </p:spPr>
        <p:txBody>
          <a:bodyPr wrap="square" lIns="0" tIns="0" rIns="0" bIns="0" rtlCol="0" anchor="ctr"/>
          <a:lstStyle/>
          <a:p>
            <a:pPr indent="0" marL="0">
              <a:buNone/>
            </a:pPr>
            <a:r>
              <a:rPr lang="en-US" sz="1800" b="1" dirty="0">
                <a:solidFill>
                  <a:srgbClr val="1A6BAD"/>
                </a:solidFill>
                <a:latin typeface="Calibri" pitchFamily="34" charset="0"/>
                <a:ea typeface="Calibri" pitchFamily="34" charset="-122"/>
                <a:cs typeface="Calibri" pitchFamily="34" charset="-120"/>
              </a:rPr>
              <a:t>03</a:t>
            </a:r>
            <a:endParaRPr lang="en-US" sz="1800" dirty="0"/>
          </a:p>
        </p:txBody>
      </p:sp>
      <p:sp>
        <p:nvSpPr>
          <p:cNvPr id="22" name="Text 20"/>
          <p:cNvSpPr/>
          <p:nvPr/>
        </p:nvSpPr>
        <p:spPr>
          <a:xfrm>
            <a:off x="6144768" y="1719072"/>
            <a:ext cx="2423160" cy="347472"/>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Cost Advantage</a:t>
            </a:r>
            <a:endParaRPr lang="en-US" sz="1000" dirty="0"/>
          </a:p>
        </p:txBody>
      </p:sp>
      <p:sp>
        <p:nvSpPr>
          <p:cNvPr id="23" name="Shape 21"/>
          <p:cNvSpPr/>
          <p:nvPr/>
        </p:nvSpPr>
        <p:spPr>
          <a:xfrm>
            <a:off x="6144768" y="2075688"/>
            <a:ext cx="2423160" cy="0"/>
          </a:xfrm>
          <a:prstGeom prst="line">
            <a:avLst/>
          </a:prstGeom>
          <a:noFill/>
          <a:ln w="6350">
            <a:solidFill>
              <a:srgbClr val="E8EDF3"/>
            </a:solidFill>
            <a:prstDash val="solid"/>
          </a:ln>
        </p:spPr>
      </p:sp>
      <p:sp>
        <p:nvSpPr>
          <p:cNvPr id="24" name="Text 22"/>
          <p:cNvSpPr/>
          <p:nvPr/>
        </p:nvSpPr>
        <p:spPr>
          <a:xfrm>
            <a:off x="6144768" y="2148840"/>
            <a:ext cx="2423160" cy="749808"/>
          </a:xfrm>
          <a:prstGeom prst="rect">
            <a:avLst/>
          </a:prstGeom>
          <a:noFill/>
          <a:ln/>
        </p:spPr>
        <p:txBody>
          <a:bodyPr wrap="square" lIns="0" tIns="0" rIns="0" bIns="0" rtlCol="0" anchor="ctr"/>
          <a:lstStyle/>
          <a:p>
            <a:pPr indent="0" marL="0">
              <a:buNone/>
            </a:pPr>
            <a:r>
              <a:rPr lang="en-US" sz="800" dirty="0">
                <a:solidFill>
                  <a:srgbClr val="2D3748"/>
                </a:solidFill>
                <a:latin typeface="Calibri" pitchFamily="34" charset="0"/>
                <a:ea typeface="Calibri" pitchFamily="34" charset="-122"/>
                <a:cs typeface="Calibri" pitchFamily="34" charset="-120"/>
              </a:rPr>
              <a:t>Lower operational costs, faster execution, and stronger regional understanding vs. European firms.</a:t>
            </a:r>
            <a:endParaRPr lang="en-US" sz="800" dirty="0"/>
          </a:p>
        </p:txBody>
      </p:sp>
      <p:sp>
        <p:nvSpPr>
          <p:cNvPr id="25" name="Shape 23"/>
          <p:cNvSpPr/>
          <p:nvPr/>
        </p:nvSpPr>
        <p:spPr>
          <a:xfrm>
            <a:off x="365760" y="3154680"/>
            <a:ext cx="2651760" cy="1691640"/>
          </a:xfrm>
          <a:prstGeom prst="rect">
            <a:avLst/>
          </a:prstGeom>
          <a:solidFill>
            <a:srgbClr val="FFFFFF"/>
          </a:solidFill>
          <a:ln w="12700">
            <a:solidFill>
              <a:srgbClr val="E8EDF3"/>
            </a:solidFill>
            <a:prstDash val="solid"/>
          </a:ln>
          <a:effectLst>
            <a:outerShdw sx="100000" sy="100000" kx="0" ky="0" algn="bl" rotWithShape="0" blurRad="127000" dist="38100" dir="8100000">
              <a:srgbClr val="000000">
                <a:alpha val="15000"/>
              </a:srgbClr>
            </a:outerShdw>
          </a:effectLst>
        </p:spPr>
      </p:sp>
      <p:sp>
        <p:nvSpPr>
          <p:cNvPr id="26" name="Shape 24"/>
          <p:cNvSpPr/>
          <p:nvPr/>
        </p:nvSpPr>
        <p:spPr>
          <a:xfrm>
            <a:off x="365760" y="3154680"/>
            <a:ext cx="2651760" cy="54864"/>
          </a:xfrm>
          <a:prstGeom prst="rect">
            <a:avLst/>
          </a:prstGeom>
          <a:solidFill>
            <a:srgbClr val="C9A84C"/>
          </a:solidFill>
          <a:ln w="12700">
            <a:solidFill>
              <a:srgbClr val="C9A84C"/>
            </a:solidFill>
            <a:prstDash val="solid"/>
          </a:ln>
        </p:spPr>
      </p:sp>
      <p:sp>
        <p:nvSpPr>
          <p:cNvPr id="27" name="Text 25"/>
          <p:cNvSpPr/>
          <p:nvPr/>
        </p:nvSpPr>
        <p:spPr>
          <a:xfrm>
            <a:off x="475488" y="3264408"/>
            <a:ext cx="457200" cy="320040"/>
          </a:xfrm>
          <a:prstGeom prst="rect">
            <a:avLst/>
          </a:prstGeom>
          <a:noFill/>
          <a:ln/>
        </p:spPr>
        <p:txBody>
          <a:bodyPr wrap="square" lIns="0" tIns="0" rIns="0" bIns="0"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04</a:t>
            </a:r>
            <a:endParaRPr lang="en-US" sz="1800" dirty="0"/>
          </a:p>
        </p:txBody>
      </p:sp>
      <p:sp>
        <p:nvSpPr>
          <p:cNvPr id="28" name="Text 26"/>
          <p:cNvSpPr/>
          <p:nvPr/>
        </p:nvSpPr>
        <p:spPr>
          <a:xfrm>
            <a:off x="475488" y="3593592"/>
            <a:ext cx="2423160" cy="347472"/>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Deep Regional Relationships</a:t>
            </a:r>
            <a:endParaRPr lang="en-US" sz="1000" dirty="0"/>
          </a:p>
        </p:txBody>
      </p:sp>
      <p:sp>
        <p:nvSpPr>
          <p:cNvPr id="29" name="Shape 27"/>
          <p:cNvSpPr/>
          <p:nvPr/>
        </p:nvSpPr>
        <p:spPr>
          <a:xfrm>
            <a:off x="475488" y="3950208"/>
            <a:ext cx="2423160" cy="0"/>
          </a:xfrm>
          <a:prstGeom prst="line">
            <a:avLst/>
          </a:prstGeom>
          <a:noFill/>
          <a:ln w="6350">
            <a:solidFill>
              <a:srgbClr val="E8EDF3"/>
            </a:solidFill>
            <a:prstDash val="solid"/>
          </a:ln>
        </p:spPr>
      </p:sp>
      <p:sp>
        <p:nvSpPr>
          <p:cNvPr id="30" name="Text 28"/>
          <p:cNvSpPr/>
          <p:nvPr/>
        </p:nvSpPr>
        <p:spPr>
          <a:xfrm>
            <a:off x="475488" y="4023360"/>
            <a:ext cx="2423160" cy="749808"/>
          </a:xfrm>
          <a:prstGeom prst="rect">
            <a:avLst/>
          </a:prstGeom>
          <a:noFill/>
          <a:ln/>
        </p:spPr>
        <p:txBody>
          <a:bodyPr wrap="square" lIns="0" tIns="0" rIns="0" bIns="0" rtlCol="0" anchor="ctr"/>
          <a:lstStyle/>
          <a:p>
            <a:pPr indent="0" marL="0">
              <a:buNone/>
            </a:pPr>
            <a:r>
              <a:rPr lang="en-US" sz="800" dirty="0">
                <a:solidFill>
                  <a:srgbClr val="2D3748"/>
                </a:solidFill>
                <a:latin typeface="Calibri" pitchFamily="34" charset="0"/>
                <a:ea typeface="Calibri" pitchFamily="34" charset="-122"/>
                <a:cs typeface="Calibri" pitchFamily="34" charset="-120"/>
              </a:rPr>
              <a:t>Established network with aviation authorities, airlines, airports, freight forwarders, and investors.</a:t>
            </a:r>
            <a:endParaRPr lang="en-US" sz="800" dirty="0"/>
          </a:p>
        </p:txBody>
      </p:sp>
      <p:sp>
        <p:nvSpPr>
          <p:cNvPr id="31" name="Shape 29"/>
          <p:cNvSpPr/>
          <p:nvPr/>
        </p:nvSpPr>
        <p:spPr>
          <a:xfrm>
            <a:off x="3200400" y="3154680"/>
            <a:ext cx="2651760" cy="1691640"/>
          </a:xfrm>
          <a:prstGeom prst="rect">
            <a:avLst/>
          </a:prstGeom>
          <a:solidFill>
            <a:srgbClr val="FFFFFF"/>
          </a:solidFill>
          <a:ln w="12700">
            <a:solidFill>
              <a:srgbClr val="E8EDF3"/>
            </a:solidFill>
            <a:prstDash val="solid"/>
          </a:ln>
          <a:effectLst>
            <a:outerShdw sx="100000" sy="100000" kx="0" ky="0" algn="bl" rotWithShape="0" blurRad="127000" dist="38100" dir="8100000">
              <a:srgbClr val="000000">
                <a:alpha val="15000"/>
              </a:srgbClr>
            </a:outerShdw>
          </a:effectLst>
        </p:spPr>
      </p:sp>
      <p:sp>
        <p:nvSpPr>
          <p:cNvPr id="32" name="Shape 30"/>
          <p:cNvSpPr/>
          <p:nvPr/>
        </p:nvSpPr>
        <p:spPr>
          <a:xfrm>
            <a:off x="3200400" y="3154680"/>
            <a:ext cx="2651760" cy="54864"/>
          </a:xfrm>
          <a:prstGeom prst="rect">
            <a:avLst/>
          </a:prstGeom>
          <a:solidFill>
            <a:srgbClr val="C9A84C"/>
          </a:solidFill>
          <a:ln w="12700">
            <a:solidFill>
              <a:srgbClr val="C9A84C"/>
            </a:solidFill>
            <a:prstDash val="solid"/>
          </a:ln>
        </p:spPr>
      </p:sp>
      <p:sp>
        <p:nvSpPr>
          <p:cNvPr id="33" name="Text 31"/>
          <p:cNvSpPr/>
          <p:nvPr/>
        </p:nvSpPr>
        <p:spPr>
          <a:xfrm>
            <a:off x="3310128" y="3264408"/>
            <a:ext cx="457200" cy="320040"/>
          </a:xfrm>
          <a:prstGeom prst="rect">
            <a:avLst/>
          </a:prstGeom>
          <a:noFill/>
          <a:ln/>
        </p:spPr>
        <p:txBody>
          <a:bodyPr wrap="square" lIns="0" tIns="0" rIns="0" bIns="0" rtlCol="0" anchor="ctr"/>
          <a:lstStyle/>
          <a:p>
            <a:pPr indent="0" marL="0">
              <a:buNone/>
            </a:pPr>
            <a:r>
              <a:rPr lang="en-US" sz="1800" b="1" dirty="0">
                <a:solidFill>
                  <a:srgbClr val="1A6BAD"/>
                </a:solidFill>
                <a:latin typeface="Calibri" pitchFamily="34" charset="0"/>
                <a:ea typeface="Calibri" pitchFamily="34" charset="-122"/>
                <a:cs typeface="Calibri" pitchFamily="34" charset="-120"/>
              </a:rPr>
              <a:t>05</a:t>
            </a:r>
            <a:endParaRPr lang="en-US" sz="1800" dirty="0"/>
          </a:p>
        </p:txBody>
      </p:sp>
      <p:sp>
        <p:nvSpPr>
          <p:cNvPr id="34" name="Text 32"/>
          <p:cNvSpPr/>
          <p:nvPr/>
        </p:nvSpPr>
        <p:spPr>
          <a:xfrm>
            <a:off x="3310128" y="3593592"/>
            <a:ext cx="2423160" cy="347472"/>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Cargo Aviation Specialty</a:t>
            </a:r>
            <a:endParaRPr lang="en-US" sz="1000" dirty="0"/>
          </a:p>
        </p:txBody>
      </p:sp>
      <p:sp>
        <p:nvSpPr>
          <p:cNvPr id="35" name="Shape 33"/>
          <p:cNvSpPr/>
          <p:nvPr/>
        </p:nvSpPr>
        <p:spPr>
          <a:xfrm>
            <a:off x="3310128" y="3950208"/>
            <a:ext cx="2423160" cy="0"/>
          </a:xfrm>
          <a:prstGeom prst="line">
            <a:avLst/>
          </a:prstGeom>
          <a:noFill/>
          <a:ln w="6350">
            <a:solidFill>
              <a:srgbClr val="E8EDF3"/>
            </a:solidFill>
            <a:prstDash val="solid"/>
          </a:ln>
        </p:spPr>
      </p:sp>
      <p:sp>
        <p:nvSpPr>
          <p:cNvPr id="36" name="Text 34"/>
          <p:cNvSpPr/>
          <p:nvPr/>
        </p:nvSpPr>
        <p:spPr>
          <a:xfrm>
            <a:off x="3310128" y="4023360"/>
            <a:ext cx="2423160" cy="749808"/>
          </a:xfrm>
          <a:prstGeom prst="rect">
            <a:avLst/>
          </a:prstGeom>
          <a:noFill/>
          <a:ln/>
        </p:spPr>
        <p:txBody>
          <a:bodyPr wrap="square" lIns="0" tIns="0" rIns="0" bIns="0" rtlCol="0" anchor="ctr"/>
          <a:lstStyle/>
          <a:p>
            <a:pPr indent="0" marL="0">
              <a:buNone/>
            </a:pPr>
            <a:r>
              <a:rPr lang="en-US" sz="800" dirty="0">
                <a:solidFill>
                  <a:srgbClr val="2D3748"/>
                </a:solidFill>
                <a:latin typeface="Calibri" pitchFamily="34" charset="0"/>
                <a:ea typeface="Calibri" pitchFamily="34" charset="-122"/>
                <a:cs typeface="Calibri" pitchFamily="34" charset="-120"/>
              </a:rPr>
              <a:t>Focused expertise in cargo — a significantly underserved niche in the MENA region.</a:t>
            </a:r>
            <a:endParaRPr lang="en-US" sz="800" dirty="0"/>
          </a:p>
        </p:txBody>
      </p:sp>
      <p:sp>
        <p:nvSpPr>
          <p:cNvPr id="37" name="Shape 35"/>
          <p:cNvSpPr/>
          <p:nvPr/>
        </p:nvSpPr>
        <p:spPr>
          <a:xfrm>
            <a:off x="6035040" y="3154680"/>
            <a:ext cx="2651760" cy="1691640"/>
          </a:xfrm>
          <a:prstGeom prst="rect">
            <a:avLst/>
          </a:prstGeom>
          <a:solidFill>
            <a:srgbClr val="FFFFFF"/>
          </a:solidFill>
          <a:ln w="12700">
            <a:solidFill>
              <a:srgbClr val="E8EDF3"/>
            </a:solidFill>
            <a:prstDash val="solid"/>
          </a:ln>
          <a:effectLst>
            <a:outerShdw sx="100000" sy="100000" kx="0" ky="0" algn="bl" rotWithShape="0" blurRad="127000" dist="38100" dir="8100000">
              <a:srgbClr val="000000">
                <a:alpha val="15000"/>
              </a:srgbClr>
            </a:outerShdw>
          </a:effectLst>
        </p:spPr>
      </p:sp>
      <p:sp>
        <p:nvSpPr>
          <p:cNvPr id="38" name="Shape 36"/>
          <p:cNvSpPr/>
          <p:nvPr/>
        </p:nvSpPr>
        <p:spPr>
          <a:xfrm>
            <a:off x="6035040" y="3154680"/>
            <a:ext cx="2651760" cy="54864"/>
          </a:xfrm>
          <a:prstGeom prst="rect">
            <a:avLst/>
          </a:prstGeom>
          <a:solidFill>
            <a:srgbClr val="C9A84C"/>
          </a:solidFill>
          <a:ln w="12700">
            <a:solidFill>
              <a:srgbClr val="C9A84C"/>
            </a:solidFill>
            <a:prstDash val="solid"/>
          </a:ln>
        </p:spPr>
      </p:sp>
      <p:sp>
        <p:nvSpPr>
          <p:cNvPr id="39" name="Text 37"/>
          <p:cNvSpPr/>
          <p:nvPr/>
        </p:nvSpPr>
        <p:spPr>
          <a:xfrm>
            <a:off x="6144768" y="3264408"/>
            <a:ext cx="457200" cy="320040"/>
          </a:xfrm>
          <a:prstGeom prst="rect">
            <a:avLst/>
          </a:prstGeom>
          <a:noFill/>
          <a:ln/>
        </p:spPr>
        <p:txBody>
          <a:bodyPr wrap="square" lIns="0" tIns="0" rIns="0" bIns="0"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06</a:t>
            </a:r>
            <a:endParaRPr lang="en-US" sz="1800" dirty="0"/>
          </a:p>
        </p:txBody>
      </p:sp>
      <p:sp>
        <p:nvSpPr>
          <p:cNvPr id="40" name="Text 38"/>
          <p:cNvSpPr/>
          <p:nvPr/>
        </p:nvSpPr>
        <p:spPr>
          <a:xfrm>
            <a:off x="6144768" y="3593592"/>
            <a:ext cx="2423160" cy="347472"/>
          </a:xfrm>
          <a:prstGeom prst="rect">
            <a:avLst/>
          </a:prstGeom>
          <a:noFill/>
          <a:ln/>
        </p:spPr>
        <p:txBody>
          <a:bodyPr wrap="square" lIns="0" tIns="0" rIns="0" bIns="0"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Speed &amp; Execution Focus</a:t>
            </a:r>
            <a:endParaRPr lang="en-US" sz="1000" dirty="0"/>
          </a:p>
        </p:txBody>
      </p:sp>
      <p:sp>
        <p:nvSpPr>
          <p:cNvPr id="41" name="Shape 39"/>
          <p:cNvSpPr/>
          <p:nvPr/>
        </p:nvSpPr>
        <p:spPr>
          <a:xfrm>
            <a:off x="6144768" y="3950208"/>
            <a:ext cx="2423160" cy="0"/>
          </a:xfrm>
          <a:prstGeom prst="line">
            <a:avLst/>
          </a:prstGeom>
          <a:noFill/>
          <a:ln w="6350">
            <a:solidFill>
              <a:srgbClr val="E8EDF3"/>
            </a:solidFill>
            <a:prstDash val="solid"/>
          </a:ln>
        </p:spPr>
      </p:sp>
      <p:sp>
        <p:nvSpPr>
          <p:cNvPr id="42" name="Text 40"/>
          <p:cNvSpPr/>
          <p:nvPr/>
        </p:nvSpPr>
        <p:spPr>
          <a:xfrm>
            <a:off x="6144768" y="4023360"/>
            <a:ext cx="2423160" cy="749808"/>
          </a:xfrm>
          <a:prstGeom prst="rect">
            <a:avLst/>
          </a:prstGeom>
          <a:noFill/>
          <a:ln/>
        </p:spPr>
        <p:txBody>
          <a:bodyPr wrap="square" lIns="0" tIns="0" rIns="0" bIns="0" rtlCol="0" anchor="ctr"/>
          <a:lstStyle/>
          <a:p>
            <a:pPr indent="0" marL="0">
              <a:buNone/>
            </a:pPr>
            <a:r>
              <a:rPr lang="en-US" sz="800" dirty="0">
                <a:solidFill>
                  <a:srgbClr val="2D3748"/>
                </a:solidFill>
                <a:latin typeface="Calibri" pitchFamily="34" charset="0"/>
                <a:ea typeface="Calibri" pitchFamily="34" charset="-122"/>
                <a:cs typeface="Calibri" pitchFamily="34" charset="-120"/>
              </a:rPr>
              <a:t>Most aviation consultancies move slowly. Air Consult is built to execute fast and deliver results.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457200" y="228600"/>
            <a:ext cx="8229600" cy="228600"/>
          </a:xfrm>
          <a:prstGeom prst="rect">
            <a:avLst/>
          </a:prstGeom>
          <a:noFill/>
          <a:ln/>
        </p:spPr>
        <p:txBody>
          <a:bodyPr wrap="square" lIns="0" tIns="0" rIns="0" bIns="0" rtlCol="0" anchor="ctr"/>
          <a:lstStyle/>
          <a:p>
            <a:pPr indent="0" marL="0">
              <a:buNone/>
            </a:pPr>
            <a:r>
              <a:rPr lang="en-US" sz="800" b="1" spc="400" kern="0" dirty="0">
                <a:solidFill>
                  <a:srgbClr val="C9A84C"/>
                </a:solidFill>
                <a:latin typeface="Calibri" pitchFamily="34" charset="0"/>
                <a:ea typeface="Calibri" pitchFamily="34" charset="-122"/>
                <a:cs typeface="Calibri" pitchFamily="34" charset="-120"/>
              </a:rPr>
              <a:t>GROWTH ROADMAP</a:t>
            </a:r>
            <a:endParaRPr lang="en-US" sz="800" dirty="0"/>
          </a:p>
        </p:txBody>
      </p:sp>
      <p:sp>
        <p:nvSpPr>
          <p:cNvPr id="4" name="Text 2"/>
          <p:cNvSpPr/>
          <p:nvPr/>
        </p:nvSpPr>
        <p:spPr>
          <a:xfrm>
            <a:off x="457200" y="41148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3-Phase Expansion Plan</a:t>
            </a:r>
            <a:endParaRPr lang="en-US" sz="2800" dirty="0"/>
          </a:p>
        </p:txBody>
      </p:sp>
      <p:sp>
        <p:nvSpPr>
          <p:cNvPr id="5" name="Shape 3"/>
          <p:cNvSpPr/>
          <p:nvPr/>
        </p:nvSpPr>
        <p:spPr>
          <a:xfrm>
            <a:off x="457200" y="960120"/>
            <a:ext cx="8229600" cy="0"/>
          </a:xfrm>
          <a:prstGeom prst="line">
            <a:avLst/>
          </a:prstGeom>
          <a:noFill/>
          <a:ln w="19050">
            <a:solidFill>
              <a:srgbClr val="C9A84C"/>
            </a:solidFill>
            <a:prstDash val="solid"/>
          </a:ln>
        </p:spPr>
      </p:sp>
      <p:sp>
        <p:nvSpPr>
          <p:cNvPr id="6" name="Shape 4"/>
          <p:cNvSpPr/>
          <p:nvPr/>
        </p:nvSpPr>
        <p:spPr>
          <a:xfrm>
            <a:off x="1371600" y="2286000"/>
            <a:ext cx="6400800" cy="0"/>
          </a:xfrm>
          <a:prstGeom prst="line">
            <a:avLst/>
          </a:prstGeom>
          <a:noFill/>
          <a:ln w="25400">
            <a:solidFill>
              <a:srgbClr val="C9A84C"/>
            </a:solidFill>
            <a:prstDash val="solid"/>
          </a:ln>
        </p:spPr>
      </p:sp>
      <p:sp>
        <p:nvSpPr>
          <p:cNvPr id="7" name="Shape 5"/>
          <p:cNvSpPr/>
          <p:nvPr/>
        </p:nvSpPr>
        <p:spPr>
          <a:xfrm>
            <a:off x="1234440" y="2148840"/>
            <a:ext cx="274320" cy="274320"/>
          </a:xfrm>
          <a:prstGeom prst="ellipse">
            <a:avLst/>
          </a:prstGeom>
          <a:solidFill>
            <a:srgbClr val="C9A84C"/>
          </a:solidFill>
          <a:ln w="12700">
            <a:solidFill>
              <a:srgbClr val="C9A84C"/>
            </a:solidFill>
            <a:prstDash val="solid"/>
          </a:ln>
        </p:spPr>
      </p:sp>
      <p:sp>
        <p:nvSpPr>
          <p:cNvPr id="8" name="Shape 6"/>
          <p:cNvSpPr/>
          <p:nvPr/>
        </p:nvSpPr>
        <p:spPr>
          <a:xfrm>
            <a:off x="1051560" y="1188720"/>
            <a:ext cx="640080" cy="640080"/>
          </a:xfrm>
          <a:prstGeom prst="ellipse">
            <a:avLst/>
          </a:prstGeom>
          <a:solidFill>
            <a:srgbClr val="1A6BAD"/>
          </a:solidFill>
          <a:ln w="12700">
            <a:solidFill>
              <a:srgbClr val="1A6BAD"/>
            </a:solidFill>
            <a:prstDash val="solid"/>
          </a:ln>
        </p:spPr>
      </p:sp>
      <p:sp>
        <p:nvSpPr>
          <p:cNvPr id="9" name="Text 7"/>
          <p:cNvSpPr/>
          <p:nvPr/>
        </p:nvSpPr>
        <p:spPr>
          <a:xfrm>
            <a:off x="1051560" y="1207008"/>
            <a:ext cx="6400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457200" y="987552"/>
            <a:ext cx="182880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Foundation</a:t>
            </a:r>
            <a:endParaRPr lang="en-US" sz="1000" dirty="0"/>
          </a:p>
        </p:txBody>
      </p:sp>
      <p:sp>
        <p:nvSpPr>
          <p:cNvPr id="11" name="Text 9"/>
          <p:cNvSpPr/>
          <p:nvPr/>
        </p:nvSpPr>
        <p:spPr>
          <a:xfrm>
            <a:off x="457200" y="2578608"/>
            <a:ext cx="1828800" cy="228600"/>
          </a:xfrm>
          <a:prstGeom prst="rect">
            <a:avLst/>
          </a:prstGeom>
          <a:noFill/>
          <a:ln/>
        </p:spPr>
        <p:txBody>
          <a:bodyPr wrap="square" lIns="0" tIns="0" rIns="0" bIns="0" rtlCol="0" anchor="ctr"/>
          <a:lstStyle/>
          <a:p>
            <a:pPr algn="ctr" indent="0" marL="0">
              <a:buNone/>
            </a:pPr>
            <a:r>
              <a:rPr lang="en-US" sz="850" dirty="0">
                <a:solidFill>
                  <a:srgbClr val="C9A84C"/>
                </a:solidFill>
                <a:latin typeface="Calibri" pitchFamily="34" charset="0"/>
                <a:ea typeface="Calibri" pitchFamily="34" charset="-122"/>
                <a:cs typeface="Calibri" pitchFamily="34" charset="-120"/>
              </a:rPr>
              <a:t>0–6 Months</a:t>
            </a:r>
            <a:endParaRPr lang="en-US" sz="850" dirty="0"/>
          </a:p>
        </p:txBody>
      </p:sp>
      <p:sp>
        <p:nvSpPr>
          <p:cNvPr id="12" name="Shape 10"/>
          <p:cNvSpPr/>
          <p:nvPr/>
        </p:nvSpPr>
        <p:spPr>
          <a:xfrm>
            <a:off x="274320" y="2880360"/>
            <a:ext cx="2194560" cy="1965960"/>
          </a:xfrm>
          <a:prstGeom prst="rect">
            <a:avLst/>
          </a:prstGeom>
          <a:solidFill>
            <a:srgbClr val="0D2137"/>
          </a:solidFill>
          <a:ln w="6350">
            <a:solidFill>
              <a:srgbClr val="1A6BAD"/>
            </a:solidFill>
            <a:prstDash val="solid"/>
          </a:ln>
        </p:spPr>
      </p:sp>
      <p:sp>
        <p:nvSpPr>
          <p:cNvPr id="13" name="Text 11"/>
          <p:cNvSpPr/>
          <p:nvPr/>
        </p:nvSpPr>
        <p:spPr>
          <a:xfrm>
            <a:off x="365760" y="2971800"/>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Company setup &amp; legal</a:t>
            </a:r>
            <a:endParaRPr lang="en-US" sz="850" dirty="0"/>
          </a:p>
        </p:txBody>
      </p:sp>
      <p:sp>
        <p:nvSpPr>
          <p:cNvPr id="14" name="Text 12"/>
          <p:cNvSpPr/>
          <p:nvPr/>
        </p:nvSpPr>
        <p:spPr>
          <a:xfrm>
            <a:off x="365760" y="3401568"/>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Brand &amp; website launch</a:t>
            </a:r>
            <a:endParaRPr lang="en-US" sz="850" dirty="0"/>
          </a:p>
        </p:txBody>
      </p:sp>
      <p:sp>
        <p:nvSpPr>
          <p:cNvPr id="15" name="Text 13"/>
          <p:cNvSpPr/>
          <p:nvPr/>
        </p:nvSpPr>
        <p:spPr>
          <a:xfrm>
            <a:off x="365760" y="3831336"/>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Advisory board recruited</a:t>
            </a:r>
            <a:endParaRPr lang="en-US" sz="850" dirty="0"/>
          </a:p>
        </p:txBody>
      </p:sp>
      <p:sp>
        <p:nvSpPr>
          <p:cNvPr id="16" name="Text 14"/>
          <p:cNvSpPr/>
          <p:nvPr/>
        </p:nvSpPr>
        <p:spPr>
          <a:xfrm>
            <a:off x="365760" y="4261104"/>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First 2–3 projects secured</a:t>
            </a:r>
            <a:endParaRPr lang="en-US" sz="850" dirty="0"/>
          </a:p>
        </p:txBody>
      </p:sp>
      <p:sp>
        <p:nvSpPr>
          <p:cNvPr id="17" name="Shape 15"/>
          <p:cNvSpPr/>
          <p:nvPr/>
        </p:nvSpPr>
        <p:spPr>
          <a:xfrm>
            <a:off x="3977640" y="2148840"/>
            <a:ext cx="274320" cy="274320"/>
          </a:xfrm>
          <a:prstGeom prst="ellipse">
            <a:avLst/>
          </a:prstGeom>
          <a:solidFill>
            <a:srgbClr val="C9A84C"/>
          </a:solidFill>
          <a:ln w="12700">
            <a:solidFill>
              <a:srgbClr val="C9A84C"/>
            </a:solidFill>
            <a:prstDash val="solid"/>
          </a:ln>
        </p:spPr>
      </p:sp>
      <p:sp>
        <p:nvSpPr>
          <p:cNvPr id="18" name="Shape 16"/>
          <p:cNvSpPr/>
          <p:nvPr/>
        </p:nvSpPr>
        <p:spPr>
          <a:xfrm>
            <a:off x="3794760" y="1188720"/>
            <a:ext cx="640080" cy="640080"/>
          </a:xfrm>
          <a:prstGeom prst="ellipse">
            <a:avLst/>
          </a:prstGeom>
          <a:solidFill>
            <a:srgbClr val="1A6BAD"/>
          </a:solidFill>
          <a:ln w="12700">
            <a:solidFill>
              <a:srgbClr val="1A6BAD"/>
            </a:solidFill>
            <a:prstDash val="solid"/>
          </a:ln>
        </p:spPr>
      </p:sp>
      <p:sp>
        <p:nvSpPr>
          <p:cNvPr id="19" name="Text 17"/>
          <p:cNvSpPr/>
          <p:nvPr/>
        </p:nvSpPr>
        <p:spPr>
          <a:xfrm>
            <a:off x="3794760" y="1207008"/>
            <a:ext cx="6400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3200400" y="987552"/>
            <a:ext cx="182880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Expansion</a:t>
            </a:r>
            <a:endParaRPr lang="en-US" sz="1000" dirty="0"/>
          </a:p>
        </p:txBody>
      </p:sp>
      <p:sp>
        <p:nvSpPr>
          <p:cNvPr id="21" name="Text 19"/>
          <p:cNvSpPr/>
          <p:nvPr/>
        </p:nvSpPr>
        <p:spPr>
          <a:xfrm>
            <a:off x="3200400" y="2578608"/>
            <a:ext cx="1828800" cy="228600"/>
          </a:xfrm>
          <a:prstGeom prst="rect">
            <a:avLst/>
          </a:prstGeom>
          <a:noFill/>
          <a:ln/>
        </p:spPr>
        <p:txBody>
          <a:bodyPr wrap="square" lIns="0" tIns="0" rIns="0" bIns="0" rtlCol="0" anchor="ctr"/>
          <a:lstStyle/>
          <a:p>
            <a:pPr algn="ctr" indent="0" marL="0">
              <a:buNone/>
            </a:pPr>
            <a:r>
              <a:rPr lang="en-US" sz="850" dirty="0">
                <a:solidFill>
                  <a:srgbClr val="C9A84C"/>
                </a:solidFill>
                <a:latin typeface="Calibri" pitchFamily="34" charset="0"/>
                <a:ea typeface="Calibri" pitchFamily="34" charset="-122"/>
                <a:cs typeface="Calibri" pitchFamily="34" charset="-120"/>
              </a:rPr>
              <a:t>6–18 Months</a:t>
            </a:r>
            <a:endParaRPr lang="en-US" sz="850" dirty="0"/>
          </a:p>
        </p:txBody>
      </p:sp>
      <p:sp>
        <p:nvSpPr>
          <p:cNvPr id="22" name="Shape 20"/>
          <p:cNvSpPr/>
          <p:nvPr/>
        </p:nvSpPr>
        <p:spPr>
          <a:xfrm>
            <a:off x="3017520" y="2880360"/>
            <a:ext cx="2194560" cy="1965960"/>
          </a:xfrm>
          <a:prstGeom prst="rect">
            <a:avLst/>
          </a:prstGeom>
          <a:solidFill>
            <a:srgbClr val="0D2137"/>
          </a:solidFill>
          <a:ln w="6350">
            <a:solidFill>
              <a:srgbClr val="1A6BAD"/>
            </a:solidFill>
            <a:prstDash val="solid"/>
          </a:ln>
        </p:spPr>
      </p:sp>
      <p:sp>
        <p:nvSpPr>
          <p:cNvPr id="23" name="Text 21"/>
          <p:cNvSpPr/>
          <p:nvPr/>
        </p:nvSpPr>
        <p:spPr>
          <a:xfrm>
            <a:off x="3108960" y="2971800"/>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Airline management contracts</a:t>
            </a:r>
            <a:endParaRPr lang="en-US" sz="850" dirty="0"/>
          </a:p>
        </p:txBody>
      </p:sp>
      <p:sp>
        <p:nvSpPr>
          <p:cNvPr id="24" name="Text 22"/>
          <p:cNvSpPr/>
          <p:nvPr/>
        </p:nvSpPr>
        <p:spPr>
          <a:xfrm>
            <a:off x="3108960" y="3401568"/>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Cargo projects active</a:t>
            </a:r>
            <a:endParaRPr lang="en-US" sz="850" dirty="0"/>
          </a:p>
        </p:txBody>
      </p:sp>
      <p:sp>
        <p:nvSpPr>
          <p:cNvPr id="25" name="Text 23"/>
          <p:cNvSpPr/>
          <p:nvPr/>
        </p:nvSpPr>
        <p:spPr>
          <a:xfrm>
            <a:off x="3108960" y="3831336"/>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Government projects</a:t>
            </a:r>
            <a:endParaRPr lang="en-US" sz="850" dirty="0"/>
          </a:p>
        </p:txBody>
      </p:sp>
      <p:sp>
        <p:nvSpPr>
          <p:cNvPr id="26" name="Text 24"/>
          <p:cNvSpPr/>
          <p:nvPr/>
        </p:nvSpPr>
        <p:spPr>
          <a:xfrm>
            <a:off x="3108960" y="4261104"/>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Case studies published</a:t>
            </a:r>
            <a:endParaRPr lang="en-US" sz="850" dirty="0"/>
          </a:p>
        </p:txBody>
      </p:sp>
      <p:sp>
        <p:nvSpPr>
          <p:cNvPr id="27" name="Shape 25"/>
          <p:cNvSpPr/>
          <p:nvPr/>
        </p:nvSpPr>
        <p:spPr>
          <a:xfrm>
            <a:off x="6720840" y="2148840"/>
            <a:ext cx="274320" cy="274320"/>
          </a:xfrm>
          <a:prstGeom prst="ellipse">
            <a:avLst/>
          </a:prstGeom>
          <a:solidFill>
            <a:srgbClr val="C9A84C"/>
          </a:solidFill>
          <a:ln w="12700">
            <a:solidFill>
              <a:srgbClr val="C9A84C"/>
            </a:solidFill>
            <a:prstDash val="solid"/>
          </a:ln>
        </p:spPr>
      </p:sp>
      <p:sp>
        <p:nvSpPr>
          <p:cNvPr id="28" name="Shape 26"/>
          <p:cNvSpPr/>
          <p:nvPr/>
        </p:nvSpPr>
        <p:spPr>
          <a:xfrm>
            <a:off x="6537960" y="1188720"/>
            <a:ext cx="640080" cy="640080"/>
          </a:xfrm>
          <a:prstGeom prst="ellipse">
            <a:avLst/>
          </a:prstGeom>
          <a:solidFill>
            <a:srgbClr val="1A6BAD"/>
          </a:solidFill>
          <a:ln w="12700">
            <a:solidFill>
              <a:srgbClr val="1A6BAD"/>
            </a:solidFill>
            <a:prstDash val="solid"/>
          </a:ln>
        </p:spPr>
      </p:sp>
      <p:sp>
        <p:nvSpPr>
          <p:cNvPr id="29" name="Text 27"/>
          <p:cNvSpPr/>
          <p:nvPr/>
        </p:nvSpPr>
        <p:spPr>
          <a:xfrm>
            <a:off x="6537960" y="1207008"/>
            <a:ext cx="64008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0" name="Text 28"/>
          <p:cNvSpPr/>
          <p:nvPr/>
        </p:nvSpPr>
        <p:spPr>
          <a:xfrm>
            <a:off x="5943600" y="987552"/>
            <a:ext cx="182880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Leadership</a:t>
            </a:r>
            <a:endParaRPr lang="en-US" sz="1000" dirty="0"/>
          </a:p>
        </p:txBody>
      </p:sp>
      <p:sp>
        <p:nvSpPr>
          <p:cNvPr id="31" name="Text 29"/>
          <p:cNvSpPr/>
          <p:nvPr/>
        </p:nvSpPr>
        <p:spPr>
          <a:xfrm>
            <a:off x="5943600" y="2578608"/>
            <a:ext cx="1828800" cy="228600"/>
          </a:xfrm>
          <a:prstGeom prst="rect">
            <a:avLst/>
          </a:prstGeom>
          <a:noFill/>
          <a:ln/>
        </p:spPr>
        <p:txBody>
          <a:bodyPr wrap="square" lIns="0" tIns="0" rIns="0" bIns="0" rtlCol="0" anchor="ctr"/>
          <a:lstStyle/>
          <a:p>
            <a:pPr algn="ctr" indent="0" marL="0">
              <a:buNone/>
            </a:pPr>
            <a:r>
              <a:rPr lang="en-US" sz="850" dirty="0">
                <a:solidFill>
                  <a:srgbClr val="C9A84C"/>
                </a:solidFill>
                <a:latin typeface="Calibri" pitchFamily="34" charset="0"/>
                <a:ea typeface="Calibri" pitchFamily="34" charset="-122"/>
                <a:cs typeface="Calibri" pitchFamily="34" charset="-120"/>
              </a:rPr>
              <a:t>18–36 Months</a:t>
            </a:r>
            <a:endParaRPr lang="en-US" sz="850" dirty="0"/>
          </a:p>
        </p:txBody>
      </p:sp>
      <p:sp>
        <p:nvSpPr>
          <p:cNvPr id="32" name="Shape 30"/>
          <p:cNvSpPr/>
          <p:nvPr/>
        </p:nvSpPr>
        <p:spPr>
          <a:xfrm>
            <a:off x="5760720" y="2880360"/>
            <a:ext cx="2194560" cy="1965960"/>
          </a:xfrm>
          <a:prstGeom prst="rect">
            <a:avLst/>
          </a:prstGeom>
          <a:solidFill>
            <a:srgbClr val="0D2137"/>
          </a:solidFill>
          <a:ln w="6350">
            <a:solidFill>
              <a:srgbClr val="1A6BAD"/>
            </a:solidFill>
            <a:prstDash val="solid"/>
          </a:ln>
        </p:spPr>
      </p:sp>
      <p:sp>
        <p:nvSpPr>
          <p:cNvPr id="33" name="Text 31"/>
          <p:cNvSpPr/>
          <p:nvPr/>
        </p:nvSpPr>
        <p:spPr>
          <a:xfrm>
            <a:off x="5852160" y="2971800"/>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Multi-country projects</a:t>
            </a:r>
            <a:endParaRPr lang="en-US" sz="850" dirty="0"/>
          </a:p>
        </p:txBody>
      </p:sp>
      <p:sp>
        <p:nvSpPr>
          <p:cNvPr id="34" name="Text 32"/>
          <p:cNvSpPr/>
          <p:nvPr/>
        </p:nvSpPr>
        <p:spPr>
          <a:xfrm>
            <a:off x="5852160" y="3401568"/>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Major cargo hub development</a:t>
            </a:r>
            <a:endParaRPr lang="en-US" sz="850" dirty="0"/>
          </a:p>
        </p:txBody>
      </p:sp>
      <p:sp>
        <p:nvSpPr>
          <p:cNvPr id="35" name="Text 33"/>
          <p:cNvSpPr/>
          <p:nvPr/>
        </p:nvSpPr>
        <p:spPr>
          <a:xfrm>
            <a:off x="5852160" y="3831336"/>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Long-term management retainers</a:t>
            </a:r>
            <a:endParaRPr lang="en-US" sz="850" dirty="0"/>
          </a:p>
        </p:txBody>
      </p:sp>
      <p:sp>
        <p:nvSpPr>
          <p:cNvPr id="36" name="Text 34"/>
          <p:cNvSpPr/>
          <p:nvPr/>
        </p:nvSpPr>
        <p:spPr>
          <a:xfrm>
            <a:off x="5852160" y="4261104"/>
            <a:ext cx="2011680" cy="38404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Regional market leader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374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9A84C"/>
          </a:solidFill>
          <a:ln w="12700">
            <a:solidFill>
              <a:srgbClr val="C9A84C"/>
            </a:solidFill>
            <a:prstDash val="solid"/>
          </a:ln>
        </p:spPr>
      </p:sp>
      <p:sp>
        <p:nvSpPr>
          <p:cNvPr id="3" name="Shape 1"/>
          <p:cNvSpPr/>
          <p:nvPr/>
        </p:nvSpPr>
        <p:spPr>
          <a:xfrm>
            <a:off x="0" y="109728"/>
            <a:ext cx="3474720" cy="5029200"/>
          </a:xfrm>
          <a:prstGeom prst="rect">
            <a:avLst/>
          </a:prstGeom>
          <a:solidFill>
            <a:srgbClr val="0A1628"/>
          </a:solidFill>
          <a:ln w="12700">
            <a:solidFill>
              <a:srgbClr val="0A1628"/>
            </a:solidFill>
            <a:prstDash val="solid"/>
          </a:ln>
        </p:spPr>
      </p:sp>
      <p:sp>
        <p:nvSpPr>
          <p:cNvPr id="4" name="Shape 2"/>
          <p:cNvSpPr/>
          <p:nvPr/>
        </p:nvSpPr>
        <p:spPr>
          <a:xfrm>
            <a:off x="3474720" y="109728"/>
            <a:ext cx="54864" cy="5029200"/>
          </a:xfrm>
          <a:prstGeom prst="rect">
            <a:avLst/>
          </a:prstGeom>
          <a:solidFill>
            <a:srgbClr val="C9A84C"/>
          </a:solidFill>
          <a:ln w="12700">
            <a:solidFill>
              <a:srgbClr val="C9A84C"/>
            </a:solidFill>
            <a:prstDash val="solid"/>
          </a:ln>
        </p:spPr>
      </p:sp>
      <p:sp>
        <p:nvSpPr>
          <p:cNvPr id="5" name="Text 3"/>
          <p:cNvSpPr/>
          <p:nvPr/>
        </p:nvSpPr>
        <p:spPr>
          <a:xfrm>
            <a:off x="274320" y="640080"/>
            <a:ext cx="2926080" cy="274320"/>
          </a:xfrm>
          <a:prstGeom prst="rect">
            <a:avLst/>
          </a:prstGeom>
          <a:noFill/>
          <a:ln/>
        </p:spPr>
        <p:txBody>
          <a:bodyPr wrap="square" lIns="0" tIns="0" rIns="0" bIns="0" rtlCol="0" anchor="ctr"/>
          <a:lstStyle/>
          <a:p>
            <a:pPr indent="0" marL="0">
              <a:buNone/>
            </a:pPr>
            <a:r>
              <a:rPr lang="en-US" sz="800" b="1" spc="400" kern="0" dirty="0">
                <a:solidFill>
                  <a:srgbClr val="C9A84C"/>
                </a:solidFill>
                <a:latin typeface="Calibri" pitchFamily="34" charset="0"/>
                <a:ea typeface="Calibri" pitchFamily="34" charset="-122"/>
                <a:cs typeface="Calibri" pitchFamily="34" charset="-120"/>
              </a:rPr>
              <a:t>CONTACT</a:t>
            </a:r>
            <a:endParaRPr lang="en-US" sz="800" dirty="0"/>
          </a:p>
        </p:txBody>
      </p:sp>
      <p:sp>
        <p:nvSpPr>
          <p:cNvPr id="6" name="Text 4"/>
          <p:cNvSpPr/>
          <p:nvPr/>
        </p:nvSpPr>
        <p:spPr>
          <a:xfrm>
            <a:off x="274320" y="868680"/>
            <a:ext cx="292608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Get In Touch</a:t>
            </a:r>
            <a:endParaRPr lang="en-US" sz="2200" dirty="0"/>
          </a:p>
        </p:txBody>
      </p:sp>
      <p:sp>
        <p:nvSpPr>
          <p:cNvPr id="7" name="Shape 5"/>
          <p:cNvSpPr/>
          <p:nvPr/>
        </p:nvSpPr>
        <p:spPr>
          <a:xfrm>
            <a:off x="274320" y="1444752"/>
            <a:ext cx="2926080" cy="0"/>
          </a:xfrm>
          <a:prstGeom prst="line">
            <a:avLst/>
          </a:prstGeom>
          <a:noFill/>
          <a:ln w="19050">
            <a:solidFill>
              <a:srgbClr val="C9A84C"/>
            </a:solidFill>
            <a:prstDash val="solid"/>
          </a:ln>
        </p:spPr>
      </p:sp>
      <p:sp>
        <p:nvSpPr>
          <p:cNvPr id="8" name="Text 6"/>
          <p:cNvSpPr/>
          <p:nvPr/>
        </p:nvSpPr>
        <p:spPr>
          <a:xfrm>
            <a:off x="274320" y="1600200"/>
            <a:ext cx="2926080" cy="201168"/>
          </a:xfrm>
          <a:prstGeom prst="rect">
            <a:avLst/>
          </a:prstGeom>
          <a:noFill/>
          <a:ln/>
        </p:spPr>
        <p:txBody>
          <a:bodyPr wrap="square" lIns="0" tIns="0" rIns="0" bIns="0" rtlCol="0" anchor="ctr"/>
          <a:lstStyle/>
          <a:p>
            <a:pPr indent="0" marL="0">
              <a:buNone/>
            </a:pPr>
            <a:r>
              <a:rPr lang="en-US" sz="750" b="1" spc="200" kern="0" dirty="0">
                <a:solidFill>
                  <a:srgbClr val="C9A84C"/>
                </a:solidFill>
                <a:latin typeface="Calibri" pitchFamily="34" charset="0"/>
                <a:ea typeface="Calibri" pitchFamily="34" charset="-122"/>
                <a:cs typeface="Calibri" pitchFamily="34" charset="-120"/>
              </a:rPr>
              <a:t>Office</a:t>
            </a:r>
            <a:endParaRPr lang="en-US" sz="750" dirty="0"/>
          </a:p>
        </p:txBody>
      </p:sp>
      <p:sp>
        <p:nvSpPr>
          <p:cNvPr id="9" name="Text 7"/>
          <p:cNvSpPr/>
          <p:nvPr/>
        </p:nvSpPr>
        <p:spPr>
          <a:xfrm>
            <a:off x="274320" y="1792224"/>
            <a:ext cx="292608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Cairo, Egypt</a:t>
            </a:r>
            <a:endParaRPr lang="en-US" sz="1000" dirty="0"/>
          </a:p>
        </p:txBody>
      </p:sp>
      <p:sp>
        <p:nvSpPr>
          <p:cNvPr id="10" name="Shape 8"/>
          <p:cNvSpPr/>
          <p:nvPr/>
        </p:nvSpPr>
        <p:spPr>
          <a:xfrm>
            <a:off x="274320" y="2029968"/>
            <a:ext cx="2926080" cy="0"/>
          </a:xfrm>
          <a:prstGeom prst="line">
            <a:avLst/>
          </a:prstGeom>
          <a:noFill/>
          <a:ln w="6350">
            <a:solidFill>
              <a:srgbClr val="1A3A5C"/>
            </a:solidFill>
            <a:prstDash val="solid"/>
          </a:ln>
        </p:spPr>
      </p:sp>
      <p:sp>
        <p:nvSpPr>
          <p:cNvPr id="11" name="Text 9"/>
          <p:cNvSpPr/>
          <p:nvPr/>
        </p:nvSpPr>
        <p:spPr>
          <a:xfrm>
            <a:off x="274320" y="2240280"/>
            <a:ext cx="2926080" cy="201168"/>
          </a:xfrm>
          <a:prstGeom prst="rect">
            <a:avLst/>
          </a:prstGeom>
          <a:noFill/>
          <a:ln/>
        </p:spPr>
        <p:txBody>
          <a:bodyPr wrap="square" lIns="0" tIns="0" rIns="0" bIns="0" rtlCol="0" anchor="ctr"/>
          <a:lstStyle/>
          <a:p>
            <a:pPr indent="0" marL="0">
              <a:buNone/>
            </a:pPr>
            <a:r>
              <a:rPr lang="en-US" sz="750" b="1" spc="200" kern="0" dirty="0">
                <a:solidFill>
                  <a:srgbClr val="C9A84C"/>
                </a:solidFill>
                <a:latin typeface="Calibri" pitchFamily="34" charset="0"/>
                <a:ea typeface="Calibri" pitchFamily="34" charset="-122"/>
                <a:cs typeface="Calibri" pitchFamily="34" charset="-120"/>
              </a:rPr>
              <a:t>Email</a:t>
            </a:r>
            <a:endParaRPr lang="en-US" sz="750" dirty="0"/>
          </a:p>
        </p:txBody>
      </p:sp>
      <p:sp>
        <p:nvSpPr>
          <p:cNvPr id="12" name="Text 10"/>
          <p:cNvSpPr/>
          <p:nvPr/>
        </p:nvSpPr>
        <p:spPr>
          <a:xfrm>
            <a:off x="274320" y="2432304"/>
            <a:ext cx="292608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info@airconsult.aero</a:t>
            </a:r>
            <a:endParaRPr lang="en-US" sz="1000" dirty="0"/>
          </a:p>
        </p:txBody>
      </p:sp>
      <p:sp>
        <p:nvSpPr>
          <p:cNvPr id="13" name="Shape 11"/>
          <p:cNvSpPr/>
          <p:nvPr/>
        </p:nvSpPr>
        <p:spPr>
          <a:xfrm>
            <a:off x="274320" y="2670048"/>
            <a:ext cx="2926080" cy="0"/>
          </a:xfrm>
          <a:prstGeom prst="line">
            <a:avLst/>
          </a:prstGeom>
          <a:noFill/>
          <a:ln w="6350">
            <a:solidFill>
              <a:srgbClr val="1A3A5C"/>
            </a:solidFill>
            <a:prstDash val="solid"/>
          </a:ln>
        </p:spPr>
      </p:sp>
      <p:sp>
        <p:nvSpPr>
          <p:cNvPr id="14" name="Text 12"/>
          <p:cNvSpPr/>
          <p:nvPr/>
        </p:nvSpPr>
        <p:spPr>
          <a:xfrm>
            <a:off x="274320" y="2880360"/>
            <a:ext cx="2926080" cy="201168"/>
          </a:xfrm>
          <a:prstGeom prst="rect">
            <a:avLst/>
          </a:prstGeom>
          <a:noFill/>
          <a:ln/>
        </p:spPr>
        <p:txBody>
          <a:bodyPr wrap="square" lIns="0" tIns="0" rIns="0" bIns="0" rtlCol="0" anchor="ctr"/>
          <a:lstStyle/>
          <a:p>
            <a:pPr indent="0" marL="0">
              <a:buNone/>
            </a:pPr>
            <a:r>
              <a:rPr lang="en-US" sz="750" b="1" spc="200" kern="0" dirty="0">
                <a:solidFill>
                  <a:srgbClr val="C9A84C"/>
                </a:solidFill>
                <a:latin typeface="Calibri" pitchFamily="34" charset="0"/>
                <a:ea typeface="Calibri" pitchFamily="34" charset="-122"/>
                <a:cs typeface="Calibri" pitchFamily="34" charset="-120"/>
              </a:rPr>
              <a:t>LinkedIn</a:t>
            </a:r>
            <a:endParaRPr lang="en-US" sz="750" dirty="0"/>
          </a:p>
        </p:txBody>
      </p:sp>
      <p:sp>
        <p:nvSpPr>
          <p:cNvPr id="15" name="Text 13"/>
          <p:cNvSpPr/>
          <p:nvPr/>
        </p:nvSpPr>
        <p:spPr>
          <a:xfrm>
            <a:off x="274320" y="3072384"/>
            <a:ext cx="292608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linkedin.com/company/airconsult</a:t>
            </a:r>
            <a:endParaRPr lang="en-US" sz="1000" dirty="0"/>
          </a:p>
        </p:txBody>
      </p:sp>
      <p:sp>
        <p:nvSpPr>
          <p:cNvPr id="16" name="Shape 14"/>
          <p:cNvSpPr/>
          <p:nvPr/>
        </p:nvSpPr>
        <p:spPr>
          <a:xfrm>
            <a:off x="274320" y="3310128"/>
            <a:ext cx="2926080" cy="0"/>
          </a:xfrm>
          <a:prstGeom prst="line">
            <a:avLst/>
          </a:prstGeom>
          <a:noFill/>
          <a:ln w="6350">
            <a:solidFill>
              <a:srgbClr val="1A3A5C"/>
            </a:solidFill>
            <a:prstDash val="solid"/>
          </a:ln>
        </p:spPr>
      </p:sp>
      <p:sp>
        <p:nvSpPr>
          <p:cNvPr id="17" name="Text 15"/>
          <p:cNvSpPr/>
          <p:nvPr/>
        </p:nvSpPr>
        <p:spPr>
          <a:xfrm>
            <a:off x="274320" y="3520440"/>
            <a:ext cx="2926080" cy="201168"/>
          </a:xfrm>
          <a:prstGeom prst="rect">
            <a:avLst/>
          </a:prstGeom>
          <a:noFill/>
          <a:ln/>
        </p:spPr>
        <p:txBody>
          <a:bodyPr wrap="square" lIns="0" tIns="0" rIns="0" bIns="0" rtlCol="0" anchor="ctr"/>
          <a:lstStyle/>
          <a:p>
            <a:pPr indent="0" marL="0">
              <a:buNone/>
            </a:pPr>
            <a:r>
              <a:rPr lang="en-US" sz="750" b="1" spc="200" kern="0" dirty="0">
                <a:solidFill>
                  <a:srgbClr val="C9A84C"/>
                </a:solidFill>
                <a:latin typeface="Calibri" pitchFamily="34" charset="0"/>
                <a:ea typeface="Calibri" pitchFamily="34" charset="-122"/>
                <a:cs typeface="Calibri" pitchFamily="34" charset="-120"/>
              </a:rPr>
              <a:t>Web</a:t>
            </a:r>
            <a:endParaRPr lang="en-US" sz="750" dirty="0"/>
          </a:p>
        </p:txBody>
      </p:sp>
      <p:sp>
        <p:nvSpPr>
          <p:cNvPr id="18" name="Text 16"/>
          <p:cNvSpPr/>
          <p:nvPr/>
        </p:nvSpPr>
        <p:spPr>
          <a:xfrm>
            <a:off x="274320" y="3712464"/>
            <a:ext cx="292608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www.airconsult.aero</a:t>
            </a:r>
            <a:endParaRPr lang="en-US" sz="1000" dirty="0"/>
          </a:p>
        </p:txBody>
      </p:sp>
      <p:sp>
        <p:nvSpPr>
          <p:cNvPr id="19" name="Shape 17"/>
          <p:cNvSpPr/>
          <p:nvPr/>
        </p:nvSpPr>
        <p:spPr>
          <a:xfrm>
            <a:off x="274320" y="3950208"/>
            <a:ext cx="2926080" cy="0"/>
          </a:xfrm>
          <a:prstGeom prst="line">
            <a:avLst/>
          </a:prstGeom>
          <a:noFill/>
          <a:ln w="6350">
            <a:solidFill>
              <a:srgbClr val="1A3A5C"/>
            </a:solidFill>
            <a:prstDash val="solid"/>
          </a:ln>
        </p:spPr>
      </p:sp>
      <p:sp>
        <p:nvSpPr>
          <p:cNvPr id="20" name="Text 18"/>
          <p:cNvSpPr/>
          <p:nvPr/>
        </p:nvSpPr>
        <p:spPr>
          <a:xfrm>
            <a:off x="3931920" y="1097280"/>
            <a:ext cx="4937760"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21" name="Shape 19"/>
          <p:cNvSpPr/>
          <p:nvPr/>
        </p:nvSpPr>
        <p:spPr>
          <a:xfrm>
            <a:off x="3931920" y="1965960"/>
            <a:ext cx="4937760" cy="0"/>
          </a:xfrm>
          <a:prstGeom prst="line">
            <a:avLst/>
          </a:prstGeom>
          <a:noFill/>
          <a:ln w="19050">
            <a:solidFill>
              <a:srgbClr val="C9A84C"/>
            </a:solidFill>
            <a:prstDash val="solid"/>
          </a:ln>
        </p:spPr>
      </p:sp>
      <p:sp>
        <p:nvSpPr>
          <p:cNvPr id="22" name="Text 20"/>
          <p:cNvSpPr/>
          <p:nvPr/>
        </p:nvSpPr>
        <p:spPr>
          <a:xfrm>
            <a:off x="3931920" y="2103120"/>
            <a:ext cx="4937760" cy="1097280"/>
          </a:xfrm>
          <a:prstGeom prst="rect">
            <a:avLst/>
          </a:prstGeom>
          <a:noFill/>
          <a:ln/>
        </p:spPr>
        <p:txBody>
          <a:bodyPr wrap="square" lIns="0" tIns="0" rIns="0" bIns="0" rtlCol="0" anchor="ctr"/>
          <a:lstStyle/>
          <a:p>
            <a:pPr indent="0" marL="0">
              <a:buNone/>
            </a:pPr>
            <a:r>
              <a:rPr lang="en-US" sz="1200" i="1" dirty="0">
                <a:solidFill>
                  <a:srgbClr val="8FA3B4"/>
                </a:solidFill>
                <a:latin typeface="Calibri" pitchFamily="34" charset="0"/>
                <a:ea typeface="Calibri" pitchFamily="34" charset="-122"/>
                <a:cs typeface="Calibri" pitchFamily="34" charset="-120"/>
              </a:rPr>
              <a:t>"Air Consult — A specialized aviation execution and management partner for emerging aviation projects in MENA and Europe."</a:t>
            </a:r>
            <a:endParaRPr lang="en-US" sz="1200" dirty="0"/>
          </a:p>
        </p:txBody>
      </p:sp>
      <p:sp>
        <p:nvSpPr>
          <p:cNvPr id="23" name="Text 21"/>
          <p:cNvSpPr/>
          <p:nvPr/>
        </p:nvSpPr>
        <p:spPr>
          <a:xfrm>
            <a:off x="3931920" y="3383280"/>
            <a:ext cx="4937760" cy="27432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Critical Success Factors:</a:t>
            </a:r>
            <a:endParaRPr lang="en-US" sz="900" dirty="0"/>
          </a:p>
        </p:txBody>
      </p:sp>
      <p:sp>
        <p:nvSpPr>
          <p:cNvPr id="24" name="Text 22"/>
          <p:cNvSpPr/>
          <p:nvPr/>
        </p:nvSpPr>
        <p:spPr>
          <a:xfrm>
            <a:off x="3931920" y="3639312"/>
            <a:ext cx="4937760" cy="29260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Strong Credibility — industry-grade advisory board</a:t>
            </a:r>
            <a:endParaRPr lang="en-US" sz="850" dirty="0"/>
          </a:p>
        </p:txBody>
      </p:sp>
      <p:sp>
        <p:nvSpPr>
          <p:cNvPr id="25" name="Text 23"/>
          <p:cNvSpPr/>
          <p:nvPr/>
        </p:nvSpPr>
        <p:spPr>
          <a:xfrm>
            <a:off x="3931920" y="3968496"/>
            <a:ext cx="4937760" cy="29260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Narrow Focus — AOC, Cargo, Airline Management</a:t>
            </a:r>
            <a:endParaRPr lang="en-US" sz="850" dirty="0"/>
          </a:p>
        </p:txBody>
      </p:sp>
      <p:sp>
        <p:nvSpPr>
          <p:cNvPr id="26" name="Text 24"/>
          <p:cNvSpPr/>
          <p:nvPr/>
        </p:nvSpPr>
        <p:spPr>
          <a:xfrm>
            <a:off x="3931920" y="4297680"/>
            <a:ext cx="4937760" cy="29260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Relationships First — authorities, airlines, investors</a:t>
            </a:r>
            <a:endParaRPr lang="en-US" sz="850" dirty="0"/>
          </a:p>
        </p:txBody>
      </p:sp>
      <p:sp>
        <p:nvSpPr>
          <p:cNvPr id="27" name="Text 25"/>
          <p:cNvSpPr/>
          <p:nvPr/>
        </p:nvSpPr>
        <p:spPr>
          <a:xfrm>
            <a:off x="3931920" y="4626864"/>
            <a:ext cx="4937760" cy="29260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 Fast Execution — built for speed and results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Consult — Strategic Business Pitch</dc:title>
  <dc:subject>PptxGenJS Presentation</dc:subject>
  <dc:creator>Air Consult</dc:creator>
  <cp:lastModifiedBy>Air Consult</cp:lastModifiedBy>
  <cp:revision>1</cp:revision>
  <dcterms:created xsi:type="dcterms:W3CDTF">2026-05-11T14:48:09Z</dcterms:created>
  <dcterms:modified xsi:type="dcterms:W3CDTF">2026-05-11T14:48:09Z</dcterms:modified>
</cp:coreProperties>
</file>